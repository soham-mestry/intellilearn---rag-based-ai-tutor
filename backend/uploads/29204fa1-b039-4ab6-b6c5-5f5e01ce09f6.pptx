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81" r:id="rId3"/>
    <p:sldId id="279" r:id="rId4"/>
    <p:sldId id="258" r:id="rId5"/>
    <p:sldId id="327" r:id="rId6"/>
    <p:sldId id="328" r:id="rId7"/>
    <p:sldId id="329" r:id="rId8"/>
    <p:sldId id="458" r:id="rId9"/>
    <p:sldId id="464" r:id="rId10"/>
    <p:sldId id="459" r:id="rId11"/>
    <p:sldId id="460" r:id="rId12"/>
    <p:sldId id="467" r:id="rId13"/>
    <p:sldId id="468" r:id="rId14"/>
    <p:sldId id="471" r:id="rId15"/>
    <p:sldId id="470" r:id="rId16"/>
    <p:sldId id="529" r:id="rId17"/>
    <p:sldId id="530" r:id="rId18"/>
    <p:sldId id="531" r:id="rId19"/>
    <p:sldId id="532" r:id="rId20"/>
    <p:sldId id="533" r:id="rId21"/>
    <p:sldId id="473" r:id="rId22"/>
    <p:sldId id="469" r:id="rId23"/>
    <p:sldId id="472" r:id="rId24"/>
    <p:sldId id="461" r:id="rId25"/>
    <p:sldId id="462" r:id="rId26"/>
    <p:sldId id="465" r:id="rId27"/>
    <p:sldId id="463" r:id="rId28"/>
    <p:sldId id="466" r:id="rId29"/>
    <p:sldId id="477" r:id="rId30"/>
    <p:sldId id="474" r:id="rId31"/>
    <p:sldId id="475" r:id="rId32"/>
    <p:sldId id="476" r:id="rId33"/>
    <p:sldId id="478" r:id="rId34"/>
    <p:sldId id="479" r:id="rId35"/>
    <p:sldId id="480" r:id="rId36"/>
    <p:sldId id="481" r:id="rId37"/>
    <p:sldId id="482" r:id="rId38"/>
    <p:sldId id="483" r:id="rId39"/>
    <p:sldId id="484" r:id="rId40"/>
    <p:sldId id="485" r:id="rId41"/>
    <p:sldId id="486" r:id="rId42"/>
    <p:sldId id="487" r:id="rId43"/>
    <p:sldId id="488" r:id="rId44"/>
    <p:sldId id="489" r:id="rId45"/>
    <p:sldId id="490" r:id="rId46"/>
    <p:sldId id="491" r:id="rId47"/>
    <p:sldId id="492" r:id="rId48"/>
    <p:sldId id="493" r:id="rId49"/>
    <p:sldId id="495" r:id="rId50"/>
    <p:sldId id="494" r:id="rId51"/>
    <p:sldId id="528" r:id="rId52"/>
    <p:sldId id="497" r:id="rId53"/>
    <p:sldId id="498" r:id="rId54"/>
    <p:sldId id="500" r:id="rId55"/>
    <p:sldId id="525" r:id="rId56"/>
    <p:sldId id="526" r:id="rId57"/>
    <p:sldId id="501" r:id="rId58"/>
    <p:sldId id="502" r:id="rId59"/>
    <p:sldId id="503" r:id="rId60"/>
    <p:sldId id="504" r:id="rId61"/>
    <p:sldId id="505" r:id="rId62"/>
    <p:sldId id="506" r:id="rId63"/>
    <p:sldId id="507" r:id="rId64"/>
    <p:sldId id="508" r:id="rId65"/>
    <p:sldId id="509" r:id="rId66"/>
    <p:sldId id="510" r:id="rId67"/>
    <p:sldId id="511" r:id="rId68"/>
    <p:sldId id="512" r:id="rId69"/>
    <p:sldId id="513" r:id="rId70"/>
    <p:sldId id="514" r:id="rId71"/>
    <p:sldId id="517" r:id="rId72"/>
    <p:sldId id="518" r:id="rId73"/>
    <p:sldId id="522" r:id="rId74"/>
    <p:sldId id="523" r:id="rId75"/>
    <p:sldId id="524" r:id="rId76"/>
    <p:sldId id="324" r:id="rId7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96"/>
      </p:cViewPr>
      <p:guideLst>
        <p:guide orient="horz" pos="2160"/>
        <p:guide pos="285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6.xml"/><Relationship Id="rId79" Type="http://schemas.openxmlformats.org/officeDocument/2006/relationships/presProps" Target="presProps.xml"/><Relationship Id="rId78" Type="http://schemas.openxmlformats.org/officeDocument/2006/relationships/notesMaster" Target="notesMasters/notesMaster1.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9320F1F-7127-4203-8A22-93DEC951971E}"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bwMode="white">
      <p:bgRef idx="1003">
        <a:schemeClr val="bg1"/>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useBgFill="1">
        <p:nvSpPr>
          <p:cNvPr id="11" name="Rounded Rectangle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Rectangle 12"/>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Rectangle 14"/>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smtClean="0"/>
              <a:t>Click to edit Master title style</a:t>
            </a:r>
            <a:endParaRPr lang="en-US"/>
          </a:p>
        </p:txBody>
      </p:sp>
      <p:sp>
        <p:nvSpPr>
          <p:cNvPr id="16" name="Date Placeholder 27"/>
          <p:cNvSpPr>
            <a:spLocks noGrp="1"/>
          </p:cNvSpPr>
          <p:nvPr>
            <p:ph type="dt" sz="half" idx="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F6E1739-9C2B-4985-A6D4-F8575A44F25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17" name="Footer Placeholder 16"/>
          <p:cNvSpPr>
            <a:spLocks noGrp="1"/>
          </p:cNvSpPr>
          <p:nvPr>
            <p:ph type="ftr" sz="quarter" idx="3"/>
          </p:nvPr>
        </p:nvSpPr>
        <p:spPr>
          <a:xfrm>
            <a:off x="914400" y="6172200"/>
            <a:ext cx="39624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8" name="Slide Number Placeholder 28"/>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914400" y="1447800"/>
            <a:ext cx="777240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bwMode="white">
      <p:bgRef idx="1003">
        <a:schemeClr val="bg1"/>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useBgFill="1">
        <p:nvSpPr>
          <p:cNvPr id="11" name="Rounded Rectangle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Rectangle 12"/>
          <p:cNvSpPr/>
          <p:nvPr/>
        </p:nvSpPr>
        <p:spPr>
          <a:xfrm>
            <a:off x="69850" y="2341563"/>
            <a:ext cx="90138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Rectangle 14"/>
          <p:cNvSpPr/>
          <p:nvPr/>
        </p:nvSpPr>
        <p:spPr>
          <a:xfrm>
            <a:off x="68263" y="2468563"/>
            <a:ext cx="9015413"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16" name="Date Placeholder 3"/>
          <p:cNvSpPr>
            <a:spLocks noGrp="1"/>
          </p:cNvSpPr>
          <p:nvPr>
            <p:ph type="dt" sz="half" idx="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6B6135F2-F19F-4A19-9563-CB8A60F83DCD}"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17" name="Footer Placeholder 4"/>
          <p:cNvSpPr>
            <a:spLocks noGrp="1"/>
          </p:cNvSpPr>
          <p:nvPr>
            <p:ph type="ftr" sz="quarter" idx="3"/>
          </p:nvPr>
        </p:nvSpPr>
        <p:spPr>
          <a:xfrm>
            <a:off x="800100" y="6172200"/>
            <a:ext cx="40005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8" name="Slide Number Placeholder 5"/>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914400" y="1447800"/>
            <a:ext cx="374904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1" name="Content Placeholder 10"/>
          <p:cNvSpPr>
            <a:spLocks noGrp="1"/>
          </p:cNvSpPr>
          <p:nvPr>
            <p:ph sz="quarter" idx="2"/>
          </p:nvPr>
        </p:nvSpPr>
        <p:spPr>
          <a:xfrm>
            <a:off x="4933950" y="1447800"/>
            <a:ext cx="3749040" cy="4572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11" name="Content Placeholder 10"/>
          <p:cNvSpPr>
            <a:spLocks noGrp="1"/>
          </p:cNvSpPr>
          <p:nvPr>
            <p:ph sz="half" idx="2"/>
          </p:nvPr>
        </p:nvSpPr>
        <p:spPr>
          <a:xfrm>
            <a:off x="914400" y="2247900"/>
            <a:ext cx="3733800" cy="3886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3" name="Content Placeholder 12"/>
          <p:cNvSpPr>
            <a:spLocks noGrp="1"/>
          </p:cNvSpPr>
          <p:nvPr>
            <p:ph sz="half" idx="4"/>
          </p:nvPr>
        </p:nvSpPr>
        <p:spPr>
          <a:xfrm>
            <a:off x="4953000" y="2247900"/>
            <a:ext cx="3733800" cy="38862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useBgFill="1">
        <p:nvSpPr>
          <p:cNvPr id="4" name="Rounded Rectangle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smtClean="0"/>
              <a:t>Click to edit Master title style</a:t>
            </a:r>
            <a:endParaRPr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endParaRPr lang="en-US" smtClean="0"/>
          </a:p>
        </p:txBody>
      </p:sp>
      <p:sp>
        <p:nvSpPr>
          <p:cNvPr id="11" name="Content Placeholder 10"/>
          <p:cNvSpPr>
            <a:spLocks noGrp="1"/>
          </p:cNvSpPr>
          <p:nvPr>
            <p:ph sz="quarter" idx="1"/>
          </p:nvPr>
        </p:nvSpPr>
        <p:spPr>
          <a:xfrm>
            <a:off x="2971800" y="1600200"/>
            <a:ext cx="5715000" cy="44958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2" name="Date Placeholder 4"/>
          <p:cNvSpPr>
            <a:spLocks noGrp="1"/>
          </p:cNvSpPr>
          <p:nvPr>
            <p:ph type="dt" sz="half" idx="1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52F2265-CE4F-454C-98F0-E66111FFD0B3}"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13" name="Footer Placeholder 5"/>
          <p:cNvSpPr>
            <a:spLocks noGrp="1"/>
          </p:cNvSpPr>
          <p:nvPr>
            <p:ph type="ftr" sz="quarter" idx="3"/>
          </p:nvPr>
        </p:nvSpPr>
        <p:spPr>
          <a:xfrm>
            <a:off x="914400" y="6172200"/>
            <a:ext cx="39624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5" name="Slide Number Placeholder 6"/>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68263" y="4649788"/>
            <a:ext cx="90074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smtClean="0"/>
              <a:t>Click to edit Master text styles</a:t>
            </a:r>
            <a:endParaRPr lang="en-US" smtClean="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Date Placeholder 4"/>
          <p:cNvSpPr>
            <a:spLocks noGrp="1"/>
          </p:cNvSpPr>
          <p:nvPr>
            <p:ph type="dt" sz="half" idx="12"/>
          </p:nvPr>
        </p:nvSpPr>
        <p:spPr>
          <a:xfrm>
            <a:off x="6172200" y="6191250"/>
            <a:ext cx="24765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D5089BE8-8FA6-4679-ACEC-2BF0348015DA}"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15" name="Footer Placeholder 5"/>
          <p:cNvSpPr>
            <a:spLocks noGrp="1"/>
          </p:cNvSpPr>
          <p:nvPr>
            <p:ph type="ftr" sz="quarter" idx="3"/>
          </p:nvPr>
        </p:nvSpPr>
        <p:spPr>
          <a:xfrm>
            <a:off x="914400" y="6172200"/>
            <a:ext cx="3886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6" name="Slide Number Placeholder 6"/>
          <p:cNvSpPr>
            <a:spLocks noGrp="1"/>
          </p:cNvSpPr>
          <p:nvPr>
            <p:ph type="sldNum" sz="quarter" idx="4"/>
          </p:nvPr>
        </p:nvSpPr>
        <p:spPr>
          <a:xfrm>
            <a:off x="146050" y="6208713"/>
            <a:ext cx="457200" cy="457200"/>
          </a:xfrm>
          <a:prstGeom prst="ellipse">
            <a:avLst/>
          </a:prstGeom>
          <a:solidFill>
            <a:schemeClr val="accent1"/>
          </a:solidFill>
        </p:spPr>
        <p:txBody>
          <a:bodyPr wrap="none" lIns="0" tIns="0" rIns="0" bIns="0" anchor="ctr" anchorCtr="1">
            <a:noAutofit/>
          </a:bodyPr>
          <a:p>
            <a:pPr algn="ct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028" name="Title Placeholder 21"/>
          <p:cNvSpPr>
            <a:spLocks noGrp="1"/>
          </p:cNvSpPr>
          <p:nvPr>
            <p:ph type="title"/>
          </p:nvPr>
        </p:nvSpPr>
        <p:spPr>
          <a:xfrm>
            <a:off x="914400" y="274638"/>
            <a:ext cx="7772400" cy="1143000"/>
          </a:xfrm>
          <a:prstGeom prst="rect">
            <a:avLst/>
          </a:prstGeom>
          <a:noFill/>
          <a:ln w="9525">
            <a:noFill/>
          </a:ln>
        </p:spPr>
        <p:txBody>
          <a:bodyPr bIns="91440" anchor="b" anchorCtr="0"/>
          <a:p>
            <a:pPr lvl="0"/>
            <a:r>
              <a:rPr dirty="0"/>
              <a:t>Click to edit Master title style</a:t>
            </a:r>
            <a:endParaRPr dirty="0"/>
          </a:p>
        </p:txBody>
      </p:sp>
      <p:sp>
        <p:nvSpPr>
          <p:cNvPr id="1029" name="Text Placeholder 12"/>
          <p:cNvSpPr>
            <a:spLocks noGrp="1"/>
          </p:cNvSpPr>
          <p:nvPr>
            <p:ph type="body" idx="1"/>
          </p:nvPr>
        </p:nvSpPr>
        <p:spPr>
          <a:xfrm>
            <a:off x="914400" y="1447800"/>
            <a:ext cx="7772400" cy="45720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B2829C2-D812-4A60-A1D4-9FBDE70A851C}" type="datetimeFigureOut">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dirty="0">
              <a:ln>
                <a:noFill/>
              </a:ln>
              <a:solidFill>
                <a:schemeClr val="tx2"/>
              </a:solidFill>
              <a:effectLst/>
              <a:uLnTx/>
              <a:uFillTx/>
              <a:latin typeface="+mn-lt"/>
              <a:ea typeface="+mn-ea"/>
              <a:cs typeface="+mn-cs"/>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a:defRPr sz="1400">
                <a:solidFill>
                  <a:srgbClr val="FFFFFF"/>
                </a:solidFill>
                <a:latin typeface="Franklin Gothic Book" panose="020B0503020102020204" pitchFamily="34" charset="0"/>
              </a:defRPr>
            </a:lvl1p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anose="020B0503020102020204" pitchFamily="34" charset="0"/>
        </a:defRPr>
      </a:lvl2pPr>
      <a:lvl3pPr algn="l" rtl="0" eaLnBrk="0" fontAlgn="base" hangingPunct="0">
        <a:spcBef>
          <a:spcPct val="0"/>
        </a:spcBef>
        <a:spcAft>
          <a:spcPct val="0"/>
        </a:spcAft>
        <a:defRPr sz="4000">
          <a:solidFill>
            <a:schemeClr val="tx2"/>
          </a:solidFill>
          <a:latin typeface="Franklin Gothic Book" panose="020B0503020102020204" pitchFamily="34" charset="0"/>
        </a:defRPr>
      </a:lvl3pPr>
      <a:lvl4pPr algn="l" rtl="0" eaLnBrk="0" fontAlgn="base" hangingPunct="0">
        <a:spcBef>
          <a:spcPct val="0"/>
        </a:spcBef>
        <a:spcAft>
          <a:spcPct val="0"/>
        </a:spcAft>
        <a:defRPr sz="4000">
          <a:solidFill>
            <a:schemeClr val="tx2"/>
          </a:solidFill>
          <a:latin typeface="Franklin Gothic Book" panose="020B0503020102020204" pitchFamily="34" charset="0"/>
        </a:defRPr>
      </a:lvl4pPr>
      <a:lvl5pPr algn="l" rtl="0" eaLnBrk="0" fontAlgn="base" hangingPunct="0">
        <a:spcBef>
          <a:spcPct val="0"/>
        </a:spcBef>
        <a:spcAft>
          <a:spcPct val="0"/>
        </a:spcAft>
        <a:defRPr sz="4000">
          <a:solidFill>
            <a:schemeClr val="tx2"/>
          </a:solidFill>
          <a:latin typeface="Franklin Gothic Book" panose="020B0503020102020204" pitchFamily="34" charset="0"/>
        </a:defRPr>
      </a:lvl5pPr>
      <a:lvl6pPr marL="457200" algn="l" rtl="0" fontAlgn="base">
        <a:spcBef>
          <a:spcPct val="0"/>
        </a:spcBef>
        <a:spcAft>
          <a:spcPct val="0"/>
        </a:spcAft>
        <a:defRPr sz="4000">
          <a:solidFill>
            <a:schemeClr val="tx2"/>
          </a:solidFill>
          <a:latin typeface="Franklin Gothic Book" panose="020B0503020102020204" pitchFamily="34" charset="0"/>
        </a:defRPr>
      </a:lvl6pPr>
      <a:lvl7pPr marL="914400" algn="l" rtl="0" fontAlgn="base">
        <a:spcBef>
          <a:spcPct val="0"/>
        </a:spcBef>
        <a:spcAft>
          <a:spcPct val="0"/>
        </a:spcAft>
        <a:defRPr sz="4000">
          <a:solidFill>
            <a:schemeClr val="tx2"/>
          </a:solidFill>
          <a:latin typeface="Franklin Gothic Book" panose="020B0503020102020204" pitchFamily="34" charset="0"/>
        </a:defRPr>
      </a:lvl7pPr>
      <a:lvl8pPr marL="1371600" algn="l" rtl="0" fontAlgn="base">
        <a:spcBef>
          <a:spcPct val="0"/>
        </a:spcBef>
        <a:spcAft>
          <a:spcPct val="0"/>
        </a:spcAft>
        <a:defRPr sz="4000">
          <a:solidFill>
            <a:schemeClr val="tx2"/>
          </a:solidFill>
          <a:latin typeface="Franklin Gothic Book" panose="020B0503020102020204" pitchFamily="34" charset="0"/>
        </a:defRPr>
      </a:lvl8pPr>
      <a:lvl9pPr marL="1828800" algn="l" rtl="0" fontAlgn="base">
        <a:spcBef>
          <a:spcPct val="0"/>
        </a:spcBef>
        <a:spcAft>
          <a:spcPct val="0"/>
        </a:spcAft>
        <a:defRPr sz="4000">
          <a:solidFill>
            <a:schemeClr val="tx2"/>
          </a:solidFill>
          <a:latin typeface="Franklin Gothic Book" panose="020B05030201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hyperlink" Target="https://www.javatpoint.com/Garbage-Collection" TargetMode="External"/><Relationship Id="rId1" Type="http://schemas.openxmlformats.org/officeDocument/2006/relationships/hyperlink" Target="https://www.javatpoint.com/jvm-java-virtual-machin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javatpoint.com/hidden-form-field-in-session-tracking"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javatpoint.com/servlet-tutorial" TargetMode="Externa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ww.javatpoint.com/http-tutorial" TargetMode="External"/><Relationship Id="rId2" Type="http://schemas.openxmlformats.org/officeDocument/2006/relationships/hyperlink" Target="https://www.javatpoint.com/http-full-form" TargetMode="External"/><Relationship Id="rId1" Type="http://schemas.openxmlformats.org/officeDocument/2006/relationships/hyperlink" Target="https://www.javatpoint.com/http" TargetMode="Externa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javatpoint.com/computer-network-http" TargetMode="Externa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javatpoint.com/what-is-windows" TargetMode="Externa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tomcat.apache.org/download-90.cgi" TargetMode="External"/><Relationship Id="rId1" Type="http://schemas.openxmlformats.org/officeDocument/2006/relationships/hyperlink" Target="https://www.javatpoint.com/google-chrome" TargetMode="Externa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itle 1"/>
          <p:cNvSpPr>
            <a:spLocks noGrp="1"/>
          </p:cNvSpPr>
          <p:nvPr>
            <p:ph type="ctrTitle"/>
          </p:nvPr>
        </p:nvSpPr>
        <p:spPr>
          <a:xfrm>
            <a:off x="457200" y="1506538"/>
            <a:ext cx="8229600" cy="1470025"/>
          </a:xfrm>
        </p:spPr>
        <p:txBody>
          <a:bodyPr vert="horz" wrap="square" lIns="91440" tIns="45720" rIns="91440" bIns="91440" anchor="ctr" anchorCtr="0"/>
          <a:p>
            <a:pPr eaLnBrk="1" hangingPunct="1">
              <a:buClrTx/>
              <a:buSzTx/>
              <a:buFontTx/>
            </a:pPr>
            <a:r>
              <a:rPr sz="6000" b="1" kern="1200" dirty="0">
                <a:solidFill>
                  <a:srgbClr val="FFFFFF"/>
                </a:solidFill>
                <a:latin typeface="+mj-lt"/>
                <a:ea typeface="+mj-ea"/>
                <a:cs typeface="+mj-cs"/>
              </a:rPr>
              <a:t>Module 3</a:t>
            </a:r>
            <a:endParaRPr sz="6000" b="1" kern="1200" dirty="0">
              <a:solidFill>
                <a:srgbClr val="FFFFFF"/>
              </a:solidFill>
              <a:latin typeface="+mj-lt"/>
              <a:ea typeface="+mj-ea"/>
              <a:cs typeface="+mj-cs"/>
            </a:endParaRPr>
          </a:p>
        </p:txBody>
      </p:sp>
      <p:sp>
        <p:nvSpPr>
          <p:cNvPr id="6147" name="Rectangle 2"/>
          <p:cNvSpPr/>
          <p:nvPr/>
        </p:nvSpPr>
        <p:spPr>
          <a:xfrm>
            <a:off x="4114800" y="4648200"/>
            <a:ext cx="4572000" cy="1692275"/>
          </a:xfrm>
          <a:prstGeom prst="rect">
            <a:avLst/>
          </a:prstGeom>
          <a:noFill/>
          <a:ln w="9525">
            <a:noFill/>
          </a:ln>
        </p:spPr>
        <p:txBody>
          <a:bodyPr>
            <a:spAutoFit/>
          </a:bodyPr>
          <a:p>
            <a:pPr algn="r"/>
            <a:r>
              <a:rPr sz="3200" b="1" dirty="0">
                <a:latin typeface="Arial" panose="020B0604020202020204" pitchFamily="34" charset="0"/>
              </a:rPr>
              <a:t>Selvamurugan Kasi</a:t>
            </a:r>
            <a:endParaRPr sz="3200" b="1" dirty="0">
              <a:latin typeface="Arial" panose="020B0604020202020204" pitchFamily="34" charset="0"/>
            </a:endParaRPr>
          </a:p>
          <a:p>
            <a:pPr algn="r"/>
            <a:r>
              <a:rPr b="1" dirty="0">
                <a:latin typeface="Arial" panose="020B0604020202020204" pitchFamily="34" charset="0"/>
              </a:rPr>
              <a:t>	                           Assistant Professor</a:t>
            </a:r>
            <a:endParaRPr b="1" dirty="0">
              <a:latin typeface="Arial" panose="020B0604020202020204" pitchFamily="34" charset="0"/>
            </a:endParaRPr>
          </a:p>
          <a:p>
            <a:pPr algn="r"/>
            <a:r>
              <a:rPr b="1" dirty="0">
                <a:latin typeface="Arial" panose="020B0604020202020204" pitchFamily="34" charset="0"/>
              </a:rPr>
              <a:t>                              Computer Engineering</a:t>
            </a:r>
            <a:endParaRPr b="1" dirty="0">
              <a:latin typeface="Arial" panose="020B0604020202020204" pitchFamily="34" charset="0"/>
            </a:endParaRPr>
          </a:p>
          <a:p>
            <a:pPr algn="r"/>
            <a:r>
              <a:rPr b="1" dirty="0">
                <a:latin typeface="Arial" panose="020B0604020202020204" pitchFamily="34" charset="0"/>
              </a:rPr>
              <a:t>                SIGCE</a:t>
            </a:r>
            <a:endParaRPr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ctrTitle"/>
          </p:nvPr>
        </p:nvSpPr>
        <p:spPr>
          <a:xfrm>
            <a:off x="457200" y="1506538"/>
            <a:ext cx="8229600" cy="1470025"/>
          </a:xfrm>
        </p:spPr>
        <p:txBody>
          <a:bodyPr vert="horz" wrap="square" lIns="91440" tIns="45720" rIns="91440" bIns="91440" anchor="ctr" anchorCtr="0"/>
          <a:p>
            <a:pPr eaLnBrk="1" hangingPunct="1">
              <a:buClrTx/>
              <a:buSzTx/>
              <a:buFontTx/>
            </a:pPr>
            <a:r>
              <a:rPr sz="4400" b="1" kern="1200" dirty="0">
                <a:solidFill>
                  <a:srgbClr val="FFFFFF"/>
                </a:solidFill>
                <a:latin typeface="+mj-lt"/>
                <a:ea typeface="+mj-ea"/>
                <a:cs typeface="+mj-cs"/>
              </a:rPr>
              <a:t>Servlet</a:t>
            </a:r>
            <a:endParaRPr sz="4400" b="1" kern="1200" dirty="0">
              <a:solidFill>
                <a:srgbClr val="FFFFFF"/>
              </a:solidFill>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a:xfrm>
            <a:off x="457200" y="274638"/>
            <a:ext cx="8382000" cy="792162"/>
          </a:xfrm>
        </p:spPr>
        <p:txBody>
          <a:bodyPr vert="horz" wrap="square" lIns="91440" tIns="45720" rIns="91440" bIns="91440" anchor="b" anchorCtr="0"/>
          <a:p>
            <a:pPr eaLnBrk="1" hangingPunct="1"/>
            <a:r>
              <a:rPr b="1" dirty="0"/>
              <a:t>What is Servlet?</a:t>
            </a:r>
            <a:endParaRPr b="1" dirty="0"/>
          </a:p>
        </p:txBody>
      </p:sp>
      <p:sp>
        <p:nvSpPr>
          <p:cNvPr id="8195" name="Content Placeholder 2"/>
          <p:cNvSpPr>
            <a:spLocks noGrp="1"/>
          </p:cNvSpPr>
          <p:nvPr>
            <p:ph sz="quarter" idx="1"/>
          </p:nvPr>
        </p:nvSpPr>
        <p:spPr>
          <a:xfrm>
            <a:off x="228600" y="1143000"/>
            <a:ext cx="8686800" cy="5334000"/>
          </a:xfrm>
        </p:spPr>
        <p:txBody>
          <a:bodyPr vert="horz" wrap="square" lIns="91440" tIns="45720" rIns="91440" bIns="45720" anchor="t" anchorCtr="0"/>
          <a:p>
            <a:pPr algn="just">
              <a:buClr>
                <a:schemeClr val="accent1"/>
              </a:buClr>
              <a:buSzPct val="85000"/>
              <a:buFont typeface="Wingdings 2" panose="05020102010507070707" pitchFamily="18" charset="2"/>
            </a:pPr>
            <a:endParaRPr b="1" dirty="0"/>
          </a:p>
          <a:p>
            <a:pPr algn="just">
              <a:buClr>
                <a:schemeClr val="accent1"/>
              </a:buClr>
              <a:buSzPct val="85000"/>
              <a:buFont typeface="Wingdings 2" panose="05020102010507070707" pitchFamily="18" charset="2"/>
            </a:pPr>
            <a:r>
              <a:rPr b="1" dirty="0"/>
              <a:t>Servlet</a:t>
            </a:r>
            <a:r>
              <a:rPr dirty="0"/>
              <a:t> technology is used to create a web application (resides at server side and generates a dynamic web page).</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b="1" dirty="0"/>
              <a:t>Servlet</a:t>
            </a:r>
            <a:r>
              <a:rPr dirty="0"/>
              <a:t> technology is </a:t>
            </a:r>
            <a:r>
              <a:rPr b="1" dirty="0"/>
              <a:t>robust and scalable </a:t>
            </a:r>
            <a:r>
              <a:rPr dirty="0"/>
              <a:t>because of java language.</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 Before </a:t>
            </a:r>
            <a:r>
              <a:rPr b="1" dirty="0"/>
              <a:t>Servlet, CGI </a:t>
            </a:r>
            <a:r>
              <a:rPr dirty="0"/>
              <a:t>(Common Gateway Interface) </a:t>
            </a:r>
            <a:r>
              <a:rPr b="1" dirty="0"/>
              <a:t>scripting language</a:t>
            </a:r>
            <a:r>
              <a:rPr dirty="0"/>
              <a:t> was common as a server-side programming language.</a:t>
            </a: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pPr>
            <a:endParaRPr dirty="0"/>
          </a:p>
          <a:p>
            <a:pPr eaLnBrk="1" hangingPunct="1">
              <a:buClr>
                <a:schemeClr val="accent1"/>
              </a:buClr>
              <a:buSzPct val="85000"/>
              <a:buFont typeface="Wingdings 2" panose="05020102010507070707" pitchFamily="18" charset="2"/>
              <a:buNone/>
            </a:pPr>
            <a:r>
              <a:rPr dirty="0"/>
              <a:t>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xfrm>
            <a:off x="304800" y="0"/>
            <a:ext cx="8686800" cy="838200"/>
          </a:xfrm>
        </p:spPr>
        <p:txBody>
          <a:bodyPr vert="horz" wrap="square" lIns="91440" tIns="45720" rIns="91440" bIns="91440" anchor="b" anchorCtr="0"/>
          <a:p>
            <a:r>
              <a:rPr b="1" dirty="0"/>
              <a:t>Servlet</a:t>
            </a:r>
            <a:endParaRPr b="1" dirty="0"/>
          </a:p>
        </p:txBody>
      </p:sp>
      <p:sp>
        <p:nvSpPr>
          <p:cNvPr id="11267" name="Content Placeholder 2"/>
          <p:cNvSpPr>
            <a:spLocks noGrp="1"/>
          </p:cNvSpPr>
          <p:nvPr>
            <p:ph sz="quarter" idx="1"/>
          </p:nvPr>
        </p:nvSpPr>
        <p:spPr>
          <a:xfrm>
            <a:off x="228600" y="762000"/>
            <a:ext cx="8686800" cy="5715000"/>
          </a:xfrm>
        </p:spPr>
        <p:txBody>
          <a:bodyPr vert="horz" wrap="square" lIns="91440" tIns="45720" rIns="91440" bIns="45720" numCol="1" anchor="t" anchorCtr="0" compatLnSpc="1"/>
          <a:lstStyle/>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Servlet is a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technology</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which is used to create a web application.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Servlet is an</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 API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that provides many interfaces and classes including documentation.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Servlet is an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interface</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that must be implemented for creating any Servlet.</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Servlet is a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class</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that extends the capabilities of the servers and responds to the incoming requests. It can respond to any requests.</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Servlet is a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web component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that is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deployed on the server to create a dynamic web page.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4"/>
          <p:cNvPicPr>
            <a:picLocks noGrp="1" noChangeAspect="1"/>
          </p:cNvPicPr>
          <p:nvPr>
            <p:ph sz="quarter" idx="1"/>
          </p:nvPr>
        </p:nvPicPr>
        <p:blipFill>
          <a:blip r:embed="rId1"/>
          <a:srcRect/>
          <a:stretch>
            <a:fillRect/>
          </a:stretch>
        </p:blipFill>
        <p:spPr>
          <a:xfrm>
            <a:off x="0" y="-152400"/>
            <a:ext cx="9144000" cy="70104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itle 1"/>
          <p:cNvSpPr>
            <a:spLocks noGrp="1"/>
          </p:cNvSpPr>
          <p:nvPr>
            <p:ph type="title"/>
          </p:nvPr>
        </p:nvSpPr>
        <p:spPr>
          <a:xfrm>
            <a:off x="381000" y="0"/>
            <a:ext cx="8382000" cy="609600"/>
          </a:xfrm>
        </p:spPr>
        <p:txBody>
          <a:bodyPr vert="horz" wrap="square" lIns="91440" tIns="45720" rIns="91440" bIns="91440" anchor="b" anchorCtr="0"/>
          <a:p>
            <a:r>
              <a:rPr b="1" dirty="0"/>
              <a:t>CGI  Vs. Servlet</a:t>
            </a:r>
            <a:endParaRPr b="1" dirty="0"/>
          </a:p>
        </p:txBody>
      </p:sp>
      <p:graphicFrame>
        <p:nvGraphicFramePr>
          <p:cNvPr id="5" name="Content Placeholder 4"/>
          <p:cNvGraphicFramePr>
            <a:graphicFrameLocks noGrp="1"/>
          </p:cNvGraphicFramePr>
          <p:nvPr>
            <p:ph sz="quarter" idx="1"/>
          </p:nvPr>
        </p:nvGraphicFramePr>
        <p:xfrm>
          <a:off x="228600" y="609600"/>
          <a:ext cx="8686800" cy="6260199"/>
        </p:xfrm>
        <a:graphic>
          <a:graphicData uri="http://schemas.openxmlformats.org/drawingml/2006/table">
            <a:tbl>
              <a:tblPr firstRow="1" bandRow="1">
                <a:tableStyleId>{5C22544A-7EE6-4342-B048-85BDC9FD1C3A}</a:tableStyleId>
              </a:tblPr>
              <a:tblGrid>
                <a:gridCol w="2514600"/>
                <a:gridCol w="3276600"/>
                <a:gridCol w="2895600"/>
              </a:tblGrid>
              <a:tr h="854151">
                <a:tc>
                  <a:txBody>
                    <a:bodyPr/>
                    <a:lstStyle/>
                    <a:p>
                      <a:pPr algn="ctr"/>
                      <a:r>
                        <a:rPr lang="en-US" sz="2400" b="1" dirty="0" smtClean="0"/>
                        <a:t>Parameter</a:t>
                      </a:r>
                      <a:endParaRPr lang="en-US" sz="24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400" b="1" dirty="0" smtClean="0"/>
                        <a:t>CGI</a:t>
                      </a:r>
                      <a:endParaRPr lang="en-US" sz="2400" b="1" dirty="0" smtClean="0"/>
                    </a:p>
                    <a:p>
                      <a:pPr algn="ctr"/>
                      <a:endParaRPr lang="en-US" sz="2400" b="1" dirty="0"/>
                    </a:p>
                  </a:txBody>
                  <a:tcPr/>
                </a:tc>
                <a:tc>
                  <a:txBody>
                    <a:bodyPr/>
                    <a:lstStyle/>
                    <a:p>
                      <a:pPr algn="ctr"/>
                      <a:r>
                        <a:rPr lang="en-US" sz="2400" b="1" dirty="0" smtClean="0"/>
                        <a:t>Sevlet</a:t>
                      </a:r>
                      <a:endParaRPr lang="en-US" sz="2400" b="1" dirty="0"/>
                    </a:p>
                  </a:txBody>
                  <a:tcPr/>
                </a:tc>
              </a:tr>
              <a:tr h="949056">
                <a:tc>
                  <a:txBody>
                    <a:bodyPr/>
                    <a:lstStyle/>
                    <a:p>
                      <a:r>
                        <a:rPr lang="en-US" b="1" dirty="0" smtClean="0"/>
                        <a:t>Basic</a:t>
                      </a:r>
                      <a:endParaRPr lang="en-US" b="1" dirty="0"/>
                    </a:p>
                  </a:txBody>
                  <a:tcPr/>
                </a:tc>
                <a:tc>
                  <a:txBody>
                    <a:bodyPr/>
                    <a:lstStyle/>
                    <a:p>
                      <a:r>
                        <a:rPr lang="en-US" b="1" dirty="0" smtClean="0"/>
                        <a:t>Each  clients request creates its own process</a:t>
                      </a:r>
                      <a:endParaRPr lang="en-US" b="1" dirty="0"/>
                    </a:p>
                  </a:txBody>
                  <a:tcPr/>
                </a:tc>
                <a:tc>
                  <a:txBody>
                    <a:bodyPr/>
                    <a:lstStyle/>
                    <a:p>
                      <a:r>
                        <a:rPr lang="en-US" b="1" dirty="0" smtClean="0"/>
                        <a:t>Process are created depending on the type of the client request </a:t>
                      </a:r>
                      <a:endParaRPr lang="en-US" b="1" dirty="0"/>
                    </a:p>
                  </a:txBody>
                  <a:tcPr/>
                </a:tc>
              </a:tr>
              <a:tr h="66433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Platform dependency</a:t>
                      </a:r>
                      <a:endParaRPr lang="en-US" b="1" dirty="0"/>
                    </a:p>
                  </a:txBody>
                  <a:tcPr/>
                </a:tc>
                <a:tc>
                  <a:txBody>
                    <a:bodyPr/>
                    <a:lstStyle/>
                    <a:p>
                      <a:r>
                        <a:rPr lang="en-US" b="1" dirty="0" smtClean="0"/>
                        <a:t>Platform dependent</a:t>
                      </a:r>
                      <a:endParaRPr lang="en-US" b="1" dirty="0"/>
                    </a:p>
                  </a:txBody>
                  <a:tcPr/>
                </a:tc>
                <a:tc>
                  <a:txBody>
                    <a:bodyPr/>
                    <a:lstStyle/>
                    <a:p>
                      <a:r>
                        <a:rPr lang="en-US" b="1" dirty="0" smtClean="0"/>
                        <a:t>Does not rely on the platform</a:t>
                      </a:r>
                      <a:endParaRPr lang="en-US" b="1" dirty="0"/>
                    </a:p>
                  </a:txBody>
                  <a:tcPr/>
                </a:tc>
              </a:tr>
              <a:tr h="664339">
                <a:tc>
                  <a:txBody>
                    <a:bodyPr/>
                    <a:lstStyle/>
                    <a:p>
                      <a:r>
                        <a:rPr lang="en-US" b="1" dirty="0" smtClean="0"/>
                        <a:t>Creation of process</a:t>
                      </a:r>
                      <a:endParaRPr lang="en-US" b="1" dirty="0"/>
                    </a:p>
                  </a:txBody>
                  <a:tcPr/>
                </a:tc>
                <a:tc>
                  <a:txBody>
                    <a:bodyPr/>
                    <a:lstStyle/>
                    <a:p>
                      <a:r>
                        <a:rPr lang="en-US" b="1" dirty="0" smtClean="0"/>
                        <a:t>Each client request creates its own process</a:t>
                      </a:r>
                      <a:endParaRPr lang="en-US" b="1" dirty="0"/>
                    </a:p>
                  </a:txBody>
                  <a:tcPr/>
                </a:tc>
                <a:tc>
                  <a:txBody>
                    <a:bodyPr/>
                    <a:lstStyle/>
                    <a:p>
                      <a:r>
                        <a:rPr lang="en-US" b="1" dirty="0" smtClean="0"/>
                        <a:t>Depending</a:t>
                      </a:r>
                      <a:r>
                        <a:rPr lang="en-US" b="1" baseline="0" dirty="0" smtClean="0"/>
                        <a:t> on the type of the client request</a:t>
                      </a:r>
                      <a:endParaRPr lang="en-US" b="1" dirty="0"/>
                    </a:p>
                  </a:txBody>
                  <a:tcPr/>
                </a:tc>
              </a:tr>
              <a:tr h="664339">
                <a:tc>
                  <a:txBody>
                    <a:bodyPr/>
                    <a:lstStyle/>
                    <a:p>
                      <a:r>
                        <a:rPr lang="en-US" b="1" dirty="0" smtClean="0"/>
                        <a:t>Conversion of the script</a:t>
                      </a:r>
                      <a:endParaRPr lang="en-US" b="1" dirty="0"/>
                    </a:p>
                  </a:txBody>
                  <a:tcPr/>
                </a:tc>
                <a:tc>
                  <a:txBody>
                    <a:bodyPr/>
                    <a:lstStyle/>
                    <a:p>
                      <a:r>
                        <a:rPr lang="en-US" b="1" dirty="0" smtClean="0"/>
                        <a:t>Present</a:t>
                      </a:r>
                      <a:r>
                        <a:rPr lang="en-US" b="1" baseline="0" dirty="0" smtClean="0"/>
                        <a:t> in the  form of executables </a:t>
                      </a:r>
                      <a:endParaRPr lang="en-US" b="1" dirty="0"/>
                    </a:p>
                  </a:txBody>
                  <a:tcPr/>
                </a:tc>
                <a:tc>
                  <a:txBody>
                    <a:bodyPr/>
                    <a:lstStyle/>
                    <a:p>
                      <a:r>
                        <a:rPr lang="en-US" b="1" dirty="0" smtClean="0"/>
                        <a:t>Compiled to</a:t>
                      </a:r>
                      <a:r>
                        <a:rPr lang="en-US" b="1" baseline="0" dirty="0" smtClean="0"/>
                        <a:t> java Byte code</a:t>
                      </a:r>
                      <a:endParaRPr lang="en-US" b="1" dirty="0"/>
                    </a:p>
                  </a:txBody>
                  <a:tcPr/>
                </a:tc>
              </a:tr>
              <a:tr h="449909">
                <a:tc>
                  <a:txBody>
                    <a:bodyPr/>
                    <a:lstStyle/>
                    <a:p>
                      <a:r>
                        <a:rPr lang="en-US" b="1" dirty="0" smtClean="0"/>
                        <a:t>Runs on </a:t>
                      </a:r>
                      <a:endParaRPr lang="en-US" b="1" dirty="0"/>
                    </a:p>
                  </a:txBody>
                  <a:tcPr/>
                </a:tc>
                <a:tc>
                  <a:txBody>
                    <a:bodyPr/>
                    <a:lstStyle/>
                    <a:p>
                      <a:r>
                        <a:rPr lang="en-US" b="1" dirty="0" smtClean="0"/>
                        <a:t>Separate</a:t>
                      </a:r>
                      <a:r>
                        <a:rPr lang="en-US" b="1" baseline="0" dirty="0" smtClean="0"/>
                        <a:t> process</a:t>
                      </a:r>
                      <a:endParaRPr lang="en-US" b="1" dirty="0"/>
                    </a:p>
                  </a:txBody>
                  <a:tcPr/>
                </a:tc>
                <a:tc>
                  <a:txBody>
                    <a:bodyPr/>
                    <a:lstStyle/>
                    <a:p>
                      <a:r>
                        <a:rPr lang="en-US" b="1" dirty="0" smtClean="0"/>
                        <a:t>JVM</a:t>
                      </a:r>
                      <a:endParaRPr lang="en-US" b="1" dirty="0"/>
                    </a:p>
                  </a:txBody>
                  <a:tcPr/>
                </a:tc>
              </a:tr>
              <a:tr h="449909">
                <a:tc>
                  <a:txBody>
                    <a:bodyPr/>
                    <a:lstStyle/>
                    <a:p>
                      <a:r>
                        <a:rPr lang="en-US" b="1" dirty="0" smtClean="0"/>
                        <a:t>Security</a:t>
                      </a:r>
                      <a:endParaRPr lang="en-US" b="1" dirty="0"/>
                    </a:p>
                  </a:txBody>
                  <a:tcPr/>
                </a:tc>
                <a:tc>
                  <a:txBody>
                    <a:bodyPr/>
                    <a:lstStyle/>
                    <a:p>
                      <a:r>
                        <a:rPr lang="en-US" b="1" dirty="0" smtClean="0"/>
                        <a:t>More vulnerable to attacks</a:t>
                      </a:r>
                      <a:endParaRPr lang="en-US" b="1" dirty="0"/>
                    </a:p>
                  </a:txBody>
                  <a:tcPr/>
                </a:tc>
                <a:tc>
                  <a:txBody>
                    <a:bodyPr/>
                    <a:lstStyle/>
                    <a:p>
                      <a:r>
                        <a:rPr lang="en-US" b="1" dirty="0" smtClean="0"/>
                        <a:t>Can resist attacks</a:t>
                      </a:r>
                      <a:endParaRPr lang="en-US" b="1" dirty="0"/>
                    </a:p>
                  </a:txBody>
                  <a:tcPr/>
                </a:tc>
              </a:tr>
              <a:tr h="449909">
                <a:tc>
                  <a:txBody>
                    <a:bodyPr/>
                    <a:lstStyle/>
                    <a:p>
                      <a:r>
                        <a:rPr lang="en-US" b="1" dirty="0" smtClean="0"/>
                        <a:t>Speed</a:t>
                      </a:r>
                      <a:endParaRPr lang="en-US" b="1" dirty="0"/>
                    </a:p>
                  </a:txBody>
                  <a:tcPr/>
                </a:tc>
                <a:tc>
                  <a:txBody>
                    <a:bodyPr/>
                    <a:lstStyle/>
                    <a:p>
                      <a:r>
                        <a:rPr lang="en-US" b="1" dirty="0" smtClean="0"/>
                        <a:t>Slower</a:t>
                      </a:r>
                      <a:endParaRPr lang="en-US" b="1" dirty="0"/>
                    </a:p>
                  </a:txBody>
                  <a:tcPr/>
                </a:tc>
                <a:tc>
                  <a:txBody>
                    <a:bodyPr/>
                    <a:lstStyle/>
                    <a:p>
                      <a:r>
                        <a:rPr lang="en-US" b="1" dirty="0" smtClean="0"/>
                        <a:t>Faster</a:t>
                      </a:r>
                      <a:endParaRPr lang="en-US" b="1" dirty="0"/>
                    </a:p>
                  </a:txBody>
                  <a:tcPr/>
                </a:tc>
              </a:tr>
              <a:tr h="664339">
                <a:tc>
                  <a:txBody>
                    <a:bodyPr/>
                    <a:lstStyle/>
                    <a:p>
                      <a:r>
                        <a:rPr lang="en-US" b="1" dirty="0" smtClean="0"/>
                        <a:t>Processing</a:t>
                      </a:r>
                      <a:r>
                        <a:rPr lang="en-US" b="1" baseline="0" dirty="0" smtClean="0"/>
                        <a:t> of script</a:t>
                      </a:r>
                      <a:endParaRPr lang="en-US" b="1" dirty="0"/>
                    </a:p>
                  </a:txBody>
                  <a:tcPr/>
                </a:tc>
                <a:tc>
                  <a:txBody>
                    <a:bodyPr/>
                    <a:lstStyle/>
                    <a:p>
                      <a:r>
                        <a:rPr lang="en-US" b="1" dirty="0" smtClean="0"/>
                        <a:t>Direct</a:t>
                      </a:r>
                      <a:endParaRPr lang="en-US" b="1" dirty="0"/>
                    </a:p>
                  </a:txBody>
                  <a:tcPr/>
                </a:tc>
                <a:tc>
                  <a:txBody>
                    <a:bodyPr/>
                    <a:lstStyle/>
                    <a:p>
                      <a:r>
                        <a:rPr lang="en-US" b="1" dirty="0" smtClean="0"/>
                        <a:t>Before running the script</a:t>
                      </a:r>
                      <a:r>
                        <a:rPr lang="en-US" b="1" baseline="0" dirty="0" smtClean="0"/>
                        <a:t> it is translated and compiled</a:t>
                      </a:r>
                      <a:endParaRPr lang="en-US" b="1" dirty="0"/>
                    </a:p>
                  </a:txBody>
                  <a:tcPr/>
                </a:tc>
              </a:tr>
              <a:tr h="449909">
                <a:tc>
                  <a:txBody>
                    <a:bodyPr/>
                    <a:lstStyle/>
                    <a:p>
                      <a:r>
                        <a:rPr lang="en-US" b="1" dirty="0" smtClean="0"/>
                        <a:t>Portability</a:t>
                      </a:r>
                      <a:endParaRPr lang="en-US" b="1" dirty="0"/>
                    </a:p>
                  </a:txBody>
                  <a:tcPr/>
                </a:tc>
                <a:tc>
                  <a:txBody>
                    <a:bodyPr/>
                    <a:lstStyle/>
                    <a:p>
                      <a:r>
                        <a:rPr lang="en-US" b="1" dirty="0" smtClean="0"/>
                        <a:t>Cannot </a:t>
                      </a:r>
                      <a:r>
                        <a:rPr lang="en-US" b="1" baseline="0" dirty="0" smtClean="0"/>
                        <a:t> be ported </a:t>
                      </a:r>
                      <a:endParaRPr lang="en-US" b="1" dirty="0"/>
                    </a:p>
                  </a:txBody>
                  <a:tcPr/>
                </a:tc>
                <a:tc>
                  <a:txBody>
                    <a:bodyPr/>
                    <a:lstStyle/>
                    <a:p>
                      <a:r>
                        <a:rPr lang="en-US" b="1" dirty="0" smtClean="0"/>
                        <a:t>Portable</a:t>
                      </a:r>
                      <a:endParaRPr lang="en-US" b="1"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a:xfrm>
            <a:off x="381000" y="304800"/>
            <a:ext cx="8382000" cy="715963"/>
          </a:xfrm>
        </p:spPr>
        <p:txBody>
          <a:bodyPr vert="horz" wrap="square" lIns="91440" tIns="45720" rIns="91440" bIns="91440" anchor="b" anchorCtr="0"/>
          <a:p>
            <a:r>
              <a:rPr b="1" dirty="0"/>
              <a:t>Advantages of Servlet</a:t>
            </a:r>
            <a:endParaRPr b="1" dirty="0"/>
          </a:p>
        </p:txBody>
      </p:sp>
      <p:sp>
        <p:nvSpPr>
          <p:cNvPr id="12291" name="Content Placeholder 2"/>
          <p:cNvSpPr>
            <a:spLocks noGrp="1"/>
          </p:cNvSpPr>
          <p:nvPr>
            <p:ph sz="quarter" idx="1"/>
          </p:nvPr>
        </p:nvSpPr>
        <p:spPr>
          <a:xfrm>
            <a:off x="228600" y="1066800"/>
            <a:ext cx="8915400" cy="5791200"/>
          </a:xfrm>
        </p:spPr>
        <p:txBody>
          <a:bodyPr vert="horz" wrap="square" lIns="91440" tIns="45720" rIns="91440" bIns="45720" anchor="t" anchorCtr="0"/>
          <a:p>
            <a:pPr>
              <a:buClr>
                <a:schemeClr val="accent1"/>
              </a:buClr>
              <a:buSzPct val="85000"/>
              <a:buFont typeface="Wingdings 2" panose="05020102010507070707" pitchFamily="18" charset="2"/>
            </a:pPr>
            <a:r>
              <a:rPr dirty="0"/>
              <a:t>Persistent</a:t>
            </a:r>
            <a:endParaRPr dirty="0"/>
          </a:p>
          <a:p>
            <a:pPr>
              <a:buClr>
                <a:schemeClr val="accent1"/>
              </a:buClr>
              <a:buSzPct val="85000"/>
              <a:buFont typeface="Wingdings 2" panose="05020102010507070707" pitchFamily="18" charset="2"/>
            </a:pPr>
            <a:r>
              <a:rPr dirty="0"/>
              <a:t>Portable </a:t>
            </a:r>
            <a:endParaRPr dirty="0"/>
          </a:p>
          <a:p>
            <a:pPr>
              <a:buClr>
                <a:schemeClr val="accent1"/>
              </a:buClr>
              <a:buSzPct val="85000"/>
              <a:buFont typeface="Wingdings 2" panose="05020102010507070707" pitchFamily="18" charset="2"/>
            </a:pPr>
            <a:r>
              <a:rPr dirty="0"/>
              <a:t>Powerful</a:t>
            </a:r>
            <a:endParaRPr dirty="0"/>
          </a:p>
          <a:p>
            <a:pPr>
              <a:buClr>
                <a:schemeClr val="accent1"/>
              </a:buClr>
              <a:buSzPct val="85000"/>
              <a:buFont typeface="Wingdings 2" panose="05020102010507070707" pitchFamily="18" charset="2"/>
            </a:pPr>
            <a:r>
              <a:rPr dirty="0"/>
              <a:t>Safety</a:t>
            </a:r>
            <a:endParaRPr dirty="0"/>
          </a:p>
          <a:p>
            <a:pPr>
              <a:buClr>
                <a:schemeClr val="accent1"/>
              </a:buClr>
              <a:buSzPct val="85000"/>
              <a:buFont typeface="Wingdings 2" panose="05020102010507070707" pitchFamily="18" charset="2"/>
            </a:pPr>
            <a:r>
              <a:rPr dirty="0"/>
              <a:t>Integration</a:t>
            </a:r>
            <a:endParaRPr dirty="0"/>
          </a:p>
          <a:p>
            <a:pPr>
              <a:buClr>
                <a:schemeClr val="accent1"/>
              </a:buClr>
              <a:buSzPct val="85000"/>
              <a:buFont typeface="Wingdings 2" panose="05020102010507070707" pitchFamily="18" charset="2"/>
            </a:pPr>
            <a:r>
              <a:rPr dirty="0"/>
              <a:t>Extensibility</a:t>
            </a:r>
            <a:endParaRPr dirty="0"/>
          </a:p>
          <a:p>
            <a:pPr>
              <a:buClr>
                <a:schemeClr val="accent1"/>
              </a:buClr>
              <a:buSzPct val="85000"/>
              <a:buFont typeface="Wingdings 2" panose="05020102010507070707" pitchFamily="18" charset="2"/>
            </a:pPr>
            <a:r>
              <a:rPr dirty="0"/>
              <a:t>Inexpensive</a:t>
            </a:r>
            <a:endParaRPr dirty="0"/>
          </a:p>
          <a:p>
            <a:pPr>
              <a:buClr>
                <a:schemeClr val="accent1"/>
              </a:buClr>
              <a:buSzPct val="85000"/>
              <a:buFont typeface="Wingdings 2" panose="05020102010507070707" pitchFamily="18" charset="2"/>
            </a:pPr>
            <a:r>
              <a:rPr dirty="0"/>
              <a:t>Secure</a:t>
            </a:r>
            <a:endParaRPr dirty="0"/>
          </a:p>
          <a:p>
            <a:pPr>
              <a:buClr>
                <a:schemeClr val="accent1"/>
              </a:buClr>
              <a:buSzPct val="85000"/>
              <a:buFont typeface="Wingdings 2" panose="05020102010507070707" pitchFamily="18" charset="2"/>
            </a:pPr>
            <a:r>
              <a:rPr dirty="0"/>
              <a:t>Performance</a:t>
            </a:r>
            <a:endParaRPr dirty="0"/>
          </a:p>
          <a:p>
            <a:pPr>
              <a:buClr>
                <a:schemeClr val="accent1"/>
              </a:buClr>
              <a:buSzPct val="85000"/>
              <a:buFont typeface="Wingdings 2" panose="05020102010507070707" pitchFamily="18" charset="2"/>
            </a:pPr>
            <a:r>
              <a:rPr dirty="0"/>
              <a:t>Server independent</a:t>
            </a:r>
            <a:endParaRPr dirty="0"/>
          </a:p>
          <a:p>
            <a:pPr>
              <a:buClr>
                <a:schemeClr val="accent1"/>
              </a:buClr>
              <a:buSzPct val="85000"/>
              <a:buFont typeface="Wingdings 2" panose="05020102010507070707" pitchFamily="18" charset="2"/>
            </a:pPr>
            <a:r>
              <a:rPr dirty="0"/>
              <a:t>Protocol independent</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1"/>
          <p:cNvSpPr>
            <a:spLocks noGrp="1"/>
          </p:cNvSpPr>
          <p:nvPr>
            <p:ph type="title"/>
          </p:nvPr>
        </p:nvSpPr>
        <p:spPr/>
        <p:txBody>
          <a:bodyPr vert="horz" wrap="square" lIns="91440" tIns="45720" rIns="91440" bIns="91440" anchor="b" anchorCtr="0"/>
          <a:p>
            <a:r>
              <a:rPr b="1" dirty="0"/>
              <a:t>Advantages of Servlet</a:t>
            </a:r>
            <a:br>
              <a:rPr dirty="0"/>
            </a:br>
            <a:endParaRPr dirty="0"/>
          </a:p>
        </p:txBody>
      </p:sp>
      <p:sp>
        <p:nvSpPr>
          <p:cNvPr id="13315" name="Content Placeholder 2"/>
          <p:cNvSpPr>
            <a:spLocks noGrp="1"/>
          </p:cNvSpPr>
          <p:nvPr>
            <p:ph sz="quarter" idx="1"/>
          </p:nvPr>
        </p:nvSpPr>
        <p:spPr>
          <a:xfrm>
            <a:off x="0" y="838200"/>
            <a:ext cx="9144000" cy="6019800"/>
          </a:xfrm>
        </p:spPr>
        <p:txBody>
          <a:bodyPr vert="horz" wrap="square" lIns="91440" tIns="45720" rIns="91440" bIns="45720" anchor="t" anchorCtr="0"/>
          <a:p>
            <a:pPr>
              <a:buClr>
                <a:schemeClr val="accent1"/>
              </a:buClr>
              <a:buSzPct val="85000"/>
              <a:buFont typeface="Wingdings 2" panose="05020102010507070707" pitchFamily="18" charset="2"/>
            </a:pPr>
            <a:endParaRPr b="1" dirty="0"/>
          </a:p>
          <a:p>
            <a:pPr>
              <a:buClr>
                <a:schemeClr val="accent1"/>
              </a:buClr>
              <a:buSzPct val="85000"/>
              <a:buFont typeface="Wingdings 2" panose="05020102010507070707" pitchFamily="18" charset="2"/>
            </a:pPr>
            <a:endParaRPr b="1" dirty="0"/>
          </a:p>
          <a:p>
            <a:pPr>
              <a:buClr>
                <a:schemeClr val="accent1"/>
              </a:buClr>
              <a:buSzPct val="85000"/>
              <a:buFont typeface="Wingdings 2" panose="05020102010507070707" pitchFamily="18" charset="2"/>
            </a:pPr>
            <a:endParaRPr b="1" dirty="0"/>
          </a:p>
          <a:p>
            <a:pPr>
              <a:buClr>
                <a:schemeClr val="accent1"/>
              </a:buClr>
              <a:buSzPct val="85000"/>
              <a:buFont typeface="Wingdings 2" panose="05020102010507070707" pitchFamily="18" charset="2"/>
            </a:pPr>
            <a:endParaRPr b="1" dirty="0"/>
          </a:p>
          <a:p>
            <a:pPr>
              <a:buClr>
                <a:schemeClr val="accent1"/>
              </a:buClr>
              <a:buSzPct val="85000"/>
              <a:buFont typeface="Wingdings 2" panose="05020102010507070707" pitchFamily="18" charset="2"/>
            </a:pPr>
            <a:endParaRPr b="1" dirty="0"/>
          </a:p>
          <a:p>
            <a:pPr>
              <a:buClr>
                <a:schemeClr val="accent1"/>
              </a:buClr>
              <a:buSzPct val="85000"/>
              <a:buFont typeface="Wingdings 2" panose="05020102010507070707" pitchFamily="18" charset="2"/>
            </a:pPr>
            <a:r>
              <a:rPr b="1" dirty="0"/>
              <a:t>Better performance:</a:t>
            </a:r>
            <a:r>
              <a:rPr dirty="0"/>
              <a:t> because it creates a thread for each request, not process.</a:t>
            </a:r>
            <a:endParaRPr dirty="0"/>
          </a:p>
          <a:p>
            <a:pPr>
              <a:buClr>
                <a:schemeClr val="accent1"/>
              </a:buClr>
              <a:buSzPct val="85000"/>
              <a:buFont typeface="Wingdings 2" panose="05020102010507070707" pitchFamily="18" charset="2"/>
            </a:pPr>
            <a:r>
              <a:rPr b="1" dirty="0"/>
              <a:t>Portability:</a:t>
            </a:r>
            <a:r>
              <a:rPr dirty="0"/>
              <a:t> because it uses Java language.</a:t>
            </a:r>
            <a:endParaRPr dirty="0"/>
          </a:p>
          <a:p>
            <a:pPr>
              <a:buClr>
                <a:schemeClr val="accent1"/>
              </a:buClr>
              <a:buSzPct val="85000"/>
              <a:buFont typeface="Wingdings 2" panose="05020102010507070707" pitchFamily="18" charset="2"/>
            </a:pPr>
            <a:r>
              <a:rPr b="1" dirty="0"/>
              <a:t>Robust:</a:t>
            </a:r>
            <a:r>
              <a:rPr dirty="0"/>
              <a:t> </a:t>
            </a:r>
            <a:r>
              <a:rPr dirty="0">
                <a:hlinkClick r:id="rId1"/>
              </a:rPr>
              <a:t>JVM </a:t>
            </a:r>
            <a:r>
              <a:rPr dirty="0"/>
              <a:t>manages Servlets, so we don't need to worry about the memory leak, </a:t>
            </a:r>
            <a:r>
              <a:rPr dirty="0">
                <a:hlinkClick r:id="rId2"/>
              </a:rPr>
              <a:t>garbage collection </a:t>
            </a:r>
            <a:r>
              <a:rPr dirty="0"/>
              <a:t>, etc.</a:t>
            </a:r>
            <a:endParaRPr dirty="0"/>
          </a:p>
          <a:p>
            <a:pPr>
              <a:buClr>
                <a:schemeClr val="accent1"/>
              </a:buClr>
              <a:buSzPct val="85000"/>
              <a:buFont typeface="Wingdings 2" panose="05020102010507070707" pitchFamily="18" charset="2"/>
            </a:pPr>
            <a:r>
              <a:rPr b="1" dirty="0"/>
              <a:t>Secure:</a:t>
            </a:r>
            <a:r>
              <a:rPr dirty="0"/>
              <a:t> because it uses java language.</a:t>
            </a:r>
            <a:endParaRPr dirty="0"/>
          </a:p>
          <a:p>
            <a:pPr>
              <a:buClr>
                <a:schemeClr val="accent1"/>
              </a:buClr>
              <a:buSzPct val="85000"/>
              <a:buFont typeface="Wingdings 2" panose="05020102010507070707" pitchFamily="18" charset="2"/>
            </a:pPr>
            <a:endParaRPr dirty="0"/>
          </a:p>
        </p:txBody>
      </p:sp>
      <p:pic>
        <p:nvPicPr>
          <p:cNvPr id="13316" name="Picture 3"/>
          <p:cNvPicPr>
            <a:picLocks noChangeAspect="1"/>
          </p:cNvPicPr>
          <p:nvPr/>
        </p:nvPicPr>
        <p:blipFill>
          <a:blip r:embed="rId3"/>
          <a:stretch>
            <a:fillRect/>
          </a:stretch>
        </p:blipFill>
        <p:spPr>
          <a:xfrm>
            <a:off x="1371600" y="762000"/>
            <a:ext cx="5638800" cy="24098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381000" y="0"/>
            <a:ext cx="8305800" cy="914400"/>
          </a:xfrm>
        </p:spPr>
        <p:txBody>
          <a:bodyPr vert="horz" wrap="square" lIns="91440" tIns="45720" rIns="91440" bIns="91440" anchor="b" anchorCtr="0"/>
          <a:p>
            <a:r>
              <a:rPr sz="3600" b="1" dirty="0"/>
              <a:t>Disadvantages of Servlet</a:t>
            </a:r>
            <a:endParaRPr sz="3600" b="1" dirty="0"/>
          </a:p>
        </p:txBody>
      </p:sp>
      <p:sp>
        <p:nvSpPr>
          <p:cNvPr id="14339" name="Content Placeholder 2"/>
          <p:cNvSpPr>
            <a:spLocks noGrp="1"/>
          </p:cNvSpPr>
          <p:nvPr>
            <p:ph sz="quarter" idx="1"/>
          </p:nvPr>
        </p:nvSpPr>
        <p:spPr>
          <a:xfrm>
            <a:off x="304800" y="914400"/>
            <a:ext cx="8610600" cy="57912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The process of </a:t>
            </a:r>
            <a:r>
              <a:rPr b="1" dirty="0"/>
              <a:t>servlet designing is complicated </a:t>
            </a:r>
            <a:r>
              <a:rPr dirty="0"/>
              <a:t>and slows down the applications</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The complex business logics written make </a:t>
            </a:r>
            <a:r>
              <a:rPr b="1" dirty="0"/>
              <a:t>it difficult to understand the servlet</a:t>
            </a:r>
            <a:endParaRPr b="1" dirty="0"/>
          </a:p>
          <a:p>
            <a:pPr algn="just">
              <a:buClr>
                <a:schemeClr val="accent1"/>
              </a:buClr>
              <a:buSzPct val="85000"/>
              <a:buFont typeface="Wingdings 2" panose="05020102010507070707" pitchFamily="18" charset="2"/>
            </a:pPr>
            <a:endParaRPr b="1" dirty="0"/>
          </a:p>
          <a:p>
            <a:pPr algn="just">
              <a:buClr>
                <a:schemeClr val="accent1"/>
              </a:buClr>
              <a:buSzPct val="85000"/>
              <a:buFont typeface="Wingdings 2" panose="05020102010507070707" pitchFamily="18" charset="2"/>
            </a:pPr>
            <a:r>
              <a:rPr b="1" dirty="0"/>
              <a:t>It is very difficult for enhancement and bug fixing in servlet applications.</a:t>
            </a:r>
            <a:endParaRPr b="1"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The servlet technology has requirement of comparatively </a:t>
            </a:r>
            <a:r>
              <a:rPr b="1" dirty="0"/>
              <a:t>more steps to develop. </a:t>
            </a:r>
            <a:endParaRPr b="1" dirty="0"/>
          </a:p>
          <a:p>
            <a:pPr algn="just">
              <a:buClr>
                <a:schemeClr val="accent1"/>
              </a:buClr>
              <a:buSzPct val="85000"/>
              <a:buFont typeface="Wingdings 2" panose="05020102010507070707" pitchFamily="18" charset="2"/>
            </a:pPr>
            <a:endParaRPr b="1" dirty="0"/>
          </a:p>
          <a:p>
            <a:pPr algn="just">
              <a:buClr>
                <a:schemeClr val="accent1"/>
              </a:buClr>
              <a:buSzPct val="85000"/>
              <a:buFont typeface="Wingdings 2" panose="05020102010507070707" pitchFamily="18" charset="2"/>
            </a:pPr>
            <a:r>
              <a:rPr dirty="0"/>
              <a:t>Also </a:t>
            </a:r>
            <a:r>
              <a:rPr b="1" dirty="0"/>
              <a:t>servlet need too long time for development </a:t>
            </a:r>
            <a:endParaRPr b="1" dirty="0"/>
          </a:p>
          <a:p>
            <a:pPr>
              <a:buClr>
                <a:schemeClr val="accent1"/>
              </a:buClr>
              <a:buSzPct val="85000"/>
              <a:buFont typeface="Wingdings 2" panose="05020102010507070707" pitchFamily="18" charset="2"/>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xfrm>
            <a:off x="381000" y="152400"/>
            <a:ext cx="8077200" cy="792163"/>
          </a:xfrm>
        </p:spPr>
        <p:txBody>
          <a:bodyPr vert="horz" wrap="square" lIns="91440" tIns="45720" rIns="91440" bIns="91440" anchor="b" anchorCtr="0"/>
          <a:p>
            <a:r>
              <a:rPr sz="3600" b="1" dirty="0"/>
              <a:t>Java  Servlet  Architecture </a:t>
            </a:r>
            <a:endParaRPr sz="3600" b="1" dirty="0"/>
          </a:p>
        </p:txBody>
      </p:sp>
      <p:sp>
        <p:nvSpPr>
          <p:cNvPr id="15363" name="Content Placeholder 2"/>
          <p:cNvSpPr>
            <a:spLocks noGrp="1"/>
          </p:cNvSpPr>
          <p:nvPr>
            <p:ph sz="quarter" idx="1"/>
          </p:nvPr>
        </p:nvSpPr>
        <p:spPr>
          <a:xfrm>
            <a:off x="0" y="1066800"/>
            <a:ext cx="9144000" cy="5486400"/>
          </a:xfrm>
        </p:spPr>
        <p:txBody>
          <a:bodyPr vert="horz" wrap="square" lIns="91440" tIns="45720" rIns="91440" bIns="45720" numCol="1" anchor="t" anchorCtr="0" compatLnSpc="1"/>
          <a:lstStyle/>
          <a:p>
            <a:pPr marL="548005" marR="0" lvl="1" indent="-228600" algn="l" defTabSz="914400" rtl="0" eaLnBrk="0" fontAlgn="base" latinLnBrk="0" hangingPunct="0">
              <a:lnSpc>
                <a:spcPct val="100000"/>
              </a:lnSpc>
              <a:spcBef>
                <a:spcPts val="375"/>
              </a:spcBef>
              <a:spcAft>
                <a:spcPct val="0"/>
              </a:spcAft>
              <a:buClr>
                <a:schemeClr val="accent2"/>
              </a:buClr>
              <a:buSzPct val="85000"/>
              <a:buFont typeface="Wingdings 2" panose="05020102010507070707" pitchFamily="18" charset="2"/>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Servlet are used to perform client request and response tasks dynamically.</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548005" marR="0" lvl="1" indent="-228600" algn="l" defTabSz="914400" rtl="0" eaLnBrk="0" fontAlgn="base" latinLnBrk="0" hangingPunct="0">
              <a:lnSpc>
                <a:spcPct val="100000"/>
              </a:lnSpc>
              <a:spcBef>
                <a:spcPts val="375"/>
              </a:spcBef>
              <a:spcAft>
                <a:spcPct val="0"/>
              </a:spcAft>
              <a:buClr>
                <a:schemeClr val="accent2"/>
              </a:buClr>
              <a:buSzPct val="85000"/>
              <a:buFont typeface="Wingdings 2" panose="05020102010507070707" pitchFamily="18" charset="2"/>
              <a:buNone/>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Servlets can be used to perform tasks like/;-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776605" marR="0" lvl="1" indent="-457200" algn="l" defTabSz="914400" rtl="0" eaLnBrk="0" fontAlgn="base" latinLnBrk="0" hangingPunct="0">
              <a:lnSpc>
                <a:spcPct val="100000"/>
              </a:lnSpc>
              <a:spcBef>
                <a:spcPts val="375"/>
              </a:spcBef>
              <a:spcAft>
                <a:spcPct val="0"/>
              </a:spcAft>
              <a:buClr>
                <a:schemeClr val="accent2"/>
              </a:buClr>
              <a:buSzPct val="85000"/>
              <a:buFont typeface="Wingdings 2" panose="05020102010507070707" pitchFamily="18" charset="2"/>
              <a:buChar char=""/>
              <a:defRPr/>
            </a:pPr>
            <a:r>
              <a:rPr kumimoji="0" lang="en-US" sz="2400" b="1" i="0" u="none" strike="noStrike" kern="1200" cap="none" spc="0" normalizeH="0" baseline="0" noProof="0" dirty="0" smtClean="0">
                <a:ln>
                  <a:noFill/>
                </a:ln>
                <a:solidFill>
                  <a:schemeClr val="tx1"/>
                </a:solidFill>
                <a:effectLst/>
                <a:uLnTx/>
                <a:uFillTx/>
                <a:latin typeface="+mn-lt"/>
                <a:ea typeface="+mn-ea"/>
                <a:cs typeface="+mn-cs"/>
              </a:rPr>
              <a:t>Control the flow of the application</a:t>
            </a:r>
            <a:endParaRPr kumimoji="0" lang="en-US" sz="24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776605" marR="0" lvl="1" indent="-457200" algn="l" defTabSz="914400" rtl="0" eaLnBrk="0" fontAlgn="base" latinLnBrk="0" hangingPunct="0">
              <a:lnSpc>
                <a:spcPct val="100000"/>
              </a:lnSpc>
              <a:spcBef>
                <a:spcPts val="375"/>
              </a:spcBef>
              <a:spcAft>
                <a:spcPct val="0"/>
              </a:spcAft>
              <a:buClr>
                <a:schemeClr val="accent2"/>
              </a:buClr>
              <a:buSzPct val="85000"/>
              <a:buFont typeface="Wingdings 2" panose="05020102010507070707" pitchFamily="18" charset="2"/>
              <a:buChar char=""/>
              <a:defRPr/>
            </a:pPr>
            <a:r>
              <a:rPr kumimoji="0" lang="en-US" sz="2400" b="1" i="0" u="none" strike="noStrike" kern="1200" cap="none" spc="0" normalizeH="0" baseline="0" noProof="0" dirty="0" smtClean="0">
                <a:ln>
                  <a:noFill/>
                </a:ln>
                <a:solidFill>
                  <a:schemeClr val="tx1"/>
                </a:solidFill>
                <a:effectLst/>
                <a:uLnTx/>
                <a:uFillTx/>
                <a:latin typeface="+mn-lt"/>
                <a:ea typeface="+mn-ea"/>
                <a:cs typeface="+mn-cs"/>
              </a:rPr>
              <a:t>Generate dynamic web content</a:t>
            </a:r>
            <a:endParaRPr kumimoji="0" lang="en-US" sz="24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776605" marR="0" lvl="1" indent="-457200" algn="l" defTabSz="914400" rtl="0" eaLnBrk="0" fontAlgn="base" latinLnBrk="0" hangingPunct="0">
              <a:lnSpc>
                <a:spcPct val="100000"/>
              </a:lnSpc>
              <a:spcBef>
                <a:spcPts val="375"/>
              </a:spcBef>
              <a:spcAft>
                <a:spcPct val="0"/>
              </a:spcAft>
              <a:buClr>
                <a:schemeClr val="accent2"/>
              </a:buClr>
              <a:buSzPct val="85000"/>
              <a:buFont typeface="Wingdings 2" panose="05020102010507070707" pitchFamily="18" charset="2"/>
              <a:buChar char=""/>
              <a:defRPr/>
            </a:pPr>
            <a:r>
              <a:rPr kumimoji="0" lang="en-US" sz="2400" b="1" i="0" u="none" strike="noStrike" kern="1200" cap="none" spc="0" normalizeH="0" baseline="0" noProof="0" dirty="0" smtClean="0">
                <a:ln>
                  <a:noFill/>
                </a:ln>
                <a:solidFill>
                  <a:schemeClr val="tx1"/>
                </a:solidFill>
                <a:effectLst/>
                <a:uLnTx/>
                <a:uFillTx/>
                <a:latin typeface="+mn-lt"/>
                <a:ea typeface="+mn-ea"/>
                <a:cs typeface="+mn-cs"/>
              </a:rPr>
              <a:t>Server-side load balancing.</a:t>
            </a:r>
            <a:endParaRPr kumimoji="0" lang="en-US" sz="24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776605" marR="0" lvl="1" indent="-457200" algn="l" defTabSz="914400" rtl="0" eaLnBrk="0" fontAlgn="base" latinLnBrk="0" hangingPunct="0">
              <a:lnSpc>
                <a:spcPct val="100000"/>
              </a:lnSpc>
              <a:spcBef>
                <a:spcPts val="375"/>
              </a:spcBef>
              <a:spcAft>
                <a:spcPct val="0"/>
              </a:spcAft>
              <a:buClr>
                <a:schemeClr val="accent2"/>
              </a:buClr>
              <a:buSzPct val="85000"/>
              <a:buFont typeface="Wingdings 2" panose="05020102010507070707" pitchFamily="18" charset="2"/>
              <a:buChar char=""/>
              <a:defRPr/>
            </a:pPr>
            <a:r>
              <a:rPr kumimoji="0" lang="en-US" sz="2400" b="1" i="0" u="none" strike="noStrike" kern="1200" cap="none" spc="0" normalizeH="0" baseline="0" noProof="0" dirty="0" smtClean="0">
                <a:ln>
                  <a:noFill/>
                </a:ln>
                <a:solidFill>
                  <a:schemeClr val="tx1"/>
                </a:solidFill>
                <a:effectLst/>
                <a:uLnTx/>
                <a:uFillTx/>
                <a:latin typeface="+mn-lt"/>
                <a:ea typeface="+mn-ea"/>
                <a:cs typeface="+mn-cs"/>
              </a:rPr>
              <a:t>Implement business logic</a:t>
            </a:r>
            <a:endParaRPr kumimoji="0" lang="en-US" sz="24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xfrm>
            <a:off x="304800" y="274638"/>
            <a:ext cx="8382000" cy="639762"/>
          </a:xfrm>
        </p:spPr>
        <p:txBody>
          <a:bodyPr vert="horz" wrap="square" lIns="91440" tIns="45720" rIns="91440" bIns="91440" anchor="b" anchorCtr="0"/>
          <a:p>
            <a:r>
              <a:rPr sz="3600" b="1" dirty="0"/>
              <a:t>Components of Sevlet Architecture</a:t>
            </a:r>
            <a:endParaRPr sz="3600" b="1" dirty="0"/>
          </a:p>
        </p:txBody>
      </p:sp>
      <p:pic>
        <p:nvPicPr>
          <p:cNvPr id="16387" name="Picture 2"/>
          <p:cNvPicPr>
            <a:picLocks noGrp="1" noChangeAspect="1"/>
          </p:cNvPicPr>
          <p:nvPr>
            <p:ph sz="quarter" idx="1"/>
          </p:nvPr>
        </p:nvPicPr>
        <p:blipFill>
          <a:blip r:embed="rId1"/>
          <a:srcRect/>
          <a:stretch>
            <a:fillRect/>
          </a:stretch>
        </p:blipFill>
        <p:spPr>
          <a:xfrm>
            <a:off x="228600" y="1143000"/>
            <a:ext cx="8534400" cy="5257800"/>
          </a:xfrm>
        </p:spPr>
      </p:pic>
      <p:sp>
        <p:nvSpPr>
          <p:cNvPr id="16388" name="TextBox 4"/>
          <p:cNvSpPr txBox="1"/>
          <p:nvPr/>
        </p:nvSpPr>
        <p:spPr>
          <a:xfrm>
            <a:off x="4800600" y="5105400"/>
            <a:ext cx="184150" cy="369888"/>
          </a:xfrm>
          <a:prstGeom prst="rect">
            <a:avLst/>
          </a:prstGeom>
          <a:noFill/>
          <a:ln w="9525">
            <a:noFill/>
          </a:ln>
        </p:spPr>
        <p:txBody>
          <a:bodyPr wrap="none">
            <a:spAutoFit/>
          </a:bodyPr>
          <a:p>
            <a:endParaRPr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Content Placeholder 2"/>
          <p:cNvSpPr>
            <a:spLocks noGrp="1"/>
          </p:cNvSpPr>
          <p:nvPr>
            <p:ph sz="quarter" idx="1"/>
          </p:nvPr>
        </p:nvSpPr>
        <p:spPr>
          <a:xfrm>
            <a:off x="228600" y="0"/>
            <a:ext cx="8686800" cy="6629400"/>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1. Client</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client shown in the architecture above is primarily working as a medium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who is sending out HTTP requests over to the web server and again processing the response it gets back from the server. </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As we can see in the diagram, our client here is the web browser.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2. Web Server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Primary job of a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web server is to process the requests and responses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that a user sends over time and maintain how a web user would be able to access the files that has been hosted over the server.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The server we are talking about here is a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software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which manages access to a centralized resource or service in a network..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There are precisely two types of web servers:</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Static web server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Dynamic web server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quarter" idx="1"/>
          </p:nvPr>
        </p:nvSpPr>
        <p:spPr>
          <a:xfrm>
            <a:off x="228600" y="228600"/>
            <a:ext cx="8686800" cy="6324600"/>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3. Web Container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Web container is another typical component in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servlet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architecture which is responsible for communicating with the servlets.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Two prime tasks of a web container are: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Managing the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servlet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lifecycle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URL mapping</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just"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Web container sits at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the server-side managing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and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handling all the requests that are coming in either from the servlets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or from some JSP pages or potentially any other file system.</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304800" y="274638"/>
            <a:ext cx="8382000" cy="792162"/>
          </a:xfrm>
        </p:spPr>
        <p:txBody>
          <a:bodyPr vert="horz" wrap="square" lIns="91440" tIns="45720" rIns="91440" bIns="91440" anchor="b" anchorCtr="0"/>
          <a:p>
            <a:r>
              <a:rPr sz="3600" b="1" dirty="0"/>
              <a:t>Architecture of package </a:t>
            </a:r>
            <a:endParaRPr sz="3600" b="1" dirty="0"/>
          </a:p>
        </p:txBody>
      </p:sp>
      <p:sp>
        <p:nvSpPr>
          <p:cNvPr id="3" name="Content Placeholder 2"/>
          <p:cNvSpPr>
            <a:spLocks noGrp="1"/>
          </p:cNvSpPr>
          <p:nvPr>
            <p:ph sz="quarter" idx="1"/>
          </p:nvPr>
        </p:nvSpPr>
        <p:spPr>
          <a:xfrm>
            <a:off x="381000" y="1371600"/>
            <a:ext cx="8305800" cy="5029200"/>
          </a:xfrm>
        </p:spPr>
        <p:txBody>
          <a:bodyPr vert="horz" wrap="square" lIns="91440" tIns="45720" rIns="91440" bIns="45720" numCol="1" anchor="t" anchorCtr="0" compatLnSpc="1"/>
          <a:lstStyle/>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There are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Four potential ways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in which we can employ to create a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servlet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Servlet Interface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Generic Servlet</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HTTP Servlet</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MyServlet</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6850" y="274955"/>
            <a:ext cx="8489950" cy="655955"/>
          </a:xfrm>
        </p:spPr>
        <p:txBody>
          <a:bodyPr/>
          <a:p>
            <a:r>
              <a:rPr lang="en-US" b="1" noProof="0" dirty="0" smtClean="0">
                <a:ln>
                  <a:noFill/>
                </a:ln>
                <a:solidFill>
                  <a:schemeClr val="tx1"/>
                </a:solidFill>
                <a:effectLst/>
                <a:uLnTx/>
                <a:uFillTx/>
                <a:latin typeface="+mn-lt"/>
                <a:ea typeface="+mn-ea"/>
                <a:cs typeface="+mn-cs"/>
                <a:sym typeface="+mn-ea"/>
              </a:rPr>
              <a:t>Servlet Interface</a:t>
            </a:r>
            <a:endParaRPr lang="en-US"/>
          </a:p>
        </p:txBody>
      </p:sp>
      <p:sp>
        <p:nvSpPr>
          <p:cNvPr id="3" name="Content Placeholder 2"/>
          <p:cNvSpPr>
            <a:spLocks noGrp="1"/>
          </p:cNvSpPr>
          <p:nvPr>
            <p:ph sz="quarter" idx="1"/>
          </p:nvPr>
        </p:nvSpPr>
        <p:spPr>
          <a:xfrm>
            <a:off x="379730" y="838200"/>
            <a:ext cx="8307070" cy="5752465"/>
          </a:xfrm>
        </p:spPr>
        <p:txBody>
          <a:bodyPr/>
          <a:p>
            <a:r>
              <a:rPr lang="en-US" altLang="en-US"/>
              <a:t>Servlet Interface (</a:t>
            </a:r>
            <a:r>
              <a:rPr lang="en-US" altLang="en-US" b="1"/>
              <a:t>from javax.servlet package)</a:t>
            </a:r>
            <a:endParaRPr lang="en-US" altLang="en-US"/>
          </a:p>
          <a:p>
            <a:r>
              <a:rPr lang="en-US" altLang="en-US"/>
              <a:t>The Servlet interface is </a:t>
            </a:r>
            <a:r>
              <a:rPr lang="en-US" altLang="en-US" b="1"/>
              <a:t>part of the javax.servlet package</a:t>
            </a:r>
            <a:r>
              <a:rPr lang="en-US" altLang="en-US"/>
              <a:t> and </a:t>
            </a:r>
            <a:r>
              <a:rPr lang="en-US" altLang="en-US" b="1"/>
              <a:t>provides the basic structure for all servlets.</a:t>
            </a:r>
            <a:endParaRPr lang="en-US" altLang="en-US"/>
          </a:p>
          <a:p>
            <a:endParaRPr lang="en-US" altLang="en-US"/>
          </a:p>
          <a:p>
            <a:pPr marL="0" indent="0">
              <a:buNone/>
            </a:pPr>
            <a:r>
              <a:rPr lang="en-US" altLang="en-US" sz="1800" b="1"/>
              <a:t>Key Methods of Servlet Interface:</a:t>
            </a:r>
            <a:endParaRPr lang="en-US" altLang="en-US" sz="1800" b="1"/>
          </a:p>
          <a:p>
            <a:pPr marL="0" indent="0">
              <a:buNone/>
            </a:pPr>
            <a:r>
              <a:rPr lang="en-US" altLang="en-US" sz="1800"/>
              <a:t>public interface Servlet {</a:t>
            </a:r>
            <a:endParaRPr lang="en-US" altLang="en-US" sz="1800"/>
          </a:p>
          <a:p>
            <a:pPr marL="0" indent="0">
              <a:buNone/>
            </a:pPr>
            <a:r>
              <a:rPr lang="en-US" altLang="en-US" sz="1800"/>
              <a:t>    void init(ServletConfig config) throws ServletException;</a:t>
            </a:r>
            <a:endParaRPr lang="en-US" altLang="en-US" sz="1800"/>
          </a:p>
          <a:p>
            <a:pPr marL="0" indent="0">
              <a:buNone/>
            </a:pPr>
            <a:r>
              <a:rPr lang="en-US" altLang="en-US" sz="1800"/>
              <a:t>    ServletConfig getServletConfig();</a:t>
            </a:r>
            <a:endParaRPr lang="en-US" altLang="en-US" sz="1800"/>
          </a:p>
          <a:p>
            <a:pPr marL="0" indent="0">
              <a:buNone/>
            </a:pPr>
            <a:r>
              <a:rPr lang="en-US" altLang="en-US" sz="1800"/>
              <a:t>    void service(ServletRequest req, ServletResponse res) throws ServletException, IOException;</a:t>
            </a:r>
            <a:endParaRPr lang="en-US" altLang="en-US" sz="1800"/>
          </a:p>
          <a:p>
            <a:pPr marL="0" indent="0">
              <a:buNone/>
            </a:pPr>
            <a:r>
              <a:rPr lang="en-US" altLang="en-US" sz="1800"/>
              <a:t>    String getServletInfo();</a:t>
            </a:r>
            <a:endParaRPr lang="en-US" altLang="en-US" sz="1800"/>
          </a:p>
          <a:p>
            <a:pPr marL="0" indent="0">
              <a:buNone/>
            </a:pPr>
            <a:r>
              <a:rPr lang="en-US" altLang="en-US" sz="1800"/>
              <a:t>    void destroy();</a:t>
            </a:r>
            <a:endParaRPr lang="en-US" altLang="en-US" sz="1800"/>
          </a:p>
          <a:p>
            <a:pPr marL="0" indent="0">
              <a:buNone/>
            </a:pPr>
            <a:r>
              <a:rPr lang="en-US" altLang="en-US" sz="1800"/>
              <a:t>}</a:t>
            </a:r>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noProof="0" dirty="0" smtClean="0">
                <a:ln>
                  <a:noFill/>
                </a:ln>
                <a:solidFill>
                  <a:schemeClr val="tx1"/>
                </a:solidFill>
                <a:effectLst/>
                <a:uLnTx/>
                <a:uFillTx/>
                <a:latin typeface="+mn-lt"/>
                <a:ea typeface="+mn-ea"/>
                <a:cs typeface="+mn-cs"/>
                <a:sym typeface="+mn-ea"/>
              </a:rPr>
              <a:t>2.Generic Servlet</a:t>
            </a:r>
            <a:endParaRPr lang="en-US"/>
          </a:p>
        </p:txBody>
      </p:sp>
      <p:sp>
        <p:nvSpPr>
          <p:cNvPr id="3" name="Content Placeholder 2"/>
          <p:cNvSpPr>
            <a:spLocks noGrp="1"/>
          </p:cNvSpPr>
          <p:nvPr>
            <p:ph sz="quarter" idx="1"/>
          </p:nvPr>
        </p:nvSpPr>
        <p:spPr>
          <a:xfrm>
            <a:off x="478155" y="1447800"/>
            <a:ext cx="8208645" cy="4572000"/>
          </a:xfrm>
        </p:spPr>
        <p:txBody>
          <a:bodyPr/>
          <a:p>
            <a:r>
              <a:rPr lang="en-US" altLang="en-US" sz="2000"/>
              <a:t>GenericServlet is an </a:t>
            </a:r>
            <a:r>
              <a:rPr lang="en-US" altLang="en-US" sz="2000" b="1"/>
              <a:t>abstract class</a:t>
            </a:r>
            <a:r>
              <a:rPr lang="en-US" altLang="en-US" sz="2000"/>
              <a:t> in the </a:t>
            </a:r>
            <a:r>
              <a:rPr lang="en-US" altLang="en-US" sz="2000" b="1"/>
              <a:t>javax.servlet package.</a:t>
            </a:r>
            <a:endParaRPr lang="en-US" altLang="en-US" sz="2000"/>
          </a:p>
          <a:p>
            <a:endParaRPr lang="en-US" altLang="en-US" sz="2000"/>
          </a:p>
          <a:p>
            <a:r>
              <a:rPr lang="en-US" altLang="en-US" sz="2000"/>
              <a:t>It provides a simplified implementation of the </a:t>
            </a:r>
            <a:r>
              <a:rPr lang="en-US" altLang="en-US" sz="2000" b="1"/>
              <a:t>Servlet interface, making it easier to create servlets.</a:t>
            </a:r>
            <a:endParaRPr lang="en-US" altLang="en-US" sz="2000" b="1"/>
          </a:p>
          <a:p>
            <a:endParaRPr lang="en-US" altLang="en-US" sz="2000"/>
          </a:p>
          <a:p>
            <a:r>
              <a:rPr lang="en-US" altLang="en-US" sz="2000"/>
              <a:t>It's protocol-independent (not specific to HTTP) — unlike HttpServlet, which is HTTP-specific.</a:t>
            </a:r>
            <a:endParaRPr lang="en-US" altLang="en-US" sz="2000"/>
          </a:p>
          <a:p>
            <a:endParaRPr lang="en-US" altLang="en-US" sz="2000"/>
          </a:p>
          <a:p>
            <a:pPr marL="0" indent="0">
              <a:buNone/>
            </a:pPr>
            <a:r>
              <a:rPr lang="zh-CN" altLang="en-US" sz="2000"/>
              <a:t>📦</a:t>
            </a:r>
            <a:r>
              <a:rPr lang="en-US" altLang="en-US" sz="2000"/>
              <a:t> Package:</a:t>
            </a:r>
            <a:endParaRPr lang="en-US" altLang="en-US" sz="2000"/>
          </a:p>
          <a:p>
            <a:pPr marL="0" indent="0">
              <a:buNone/>
            </a:pPr>
            <a:r>
              <a:rPr lang="en-US" altLang="en-US" sz="2000"/>
              <a:t>java</a:t>
            </a:r>
            <a:endParaRPr lang="en-US" altLang="en-US" sz="2000"/>
          </a:p>
          <a:p>
            <a:pPr marL="0" indent="0">
              <a:buNone/>
            </a:pPr>
            <a:endParaRPr lang="en-US" altLang="en-US" sz="2000"/>
          </a:p>
          <a:p>
            <a:pPr marL="0" indent="0">
              <a:buNone/>
            </a:pPr>
            <a:r>
              <a:rPr lang="en-US" altLang="en-US" sz="2000" b="1"/>
              <a:t>javax.servlet.GenericServlet</a:t>
            </a:r>
            <a:endParaRPr lang="en-US" altLang="en-US" sz="20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89280" y="274955"/>
            <a:ext cx="8097520" cy="767080"/>
          </a:xfrm>
        </p:spPr>
        <p:txBody>
          <a:bodyPr/>
          <a:p>
            <a:r>
              <a:rPr lang="en-US" b="1" noProof="0" dirty="0" smtClean="0">
                <a:ln>
                  <a:noFill/>
                </a:ln>
                <a:solidFill>
                  <a:schemeClr val="tx1"/>
                </a:solidFill>
                <a:effectLst/>
                <a:uLnTx/>
                <a:uFillTx/>
                <a:latin typeface="+mn-lt"/>
                <a:ea typeface="+mn-ea"/>
                <a:cs typeface="+mn-cs"/>
                <a:sym typeface="+mn-ea"/>
              </a:rPr>
              <a:t>3. HTTP Servlet</a:t>
            </a:r>
            <a:endParaRPr lang="en-US"/>
          </a:p>
        </p:txBody>
      </p:sp>
      <p:sp>
        <p:nvSpPr>
          <p:cNvPr id="3" name="Content Placeholder 2"/>
          <p:cNvSpPr>
            <a:spLocks noGrp="1"/>
          </p:cNvSpPr>
          <p:nvPr>
            <p:ph sz="quarter" idx="1"/>
          </p:nvPr>
        </p:nvSpPr>
        <p:spPr>
          <a:xfrm>
            <a:off x="520065" y="1447800"/>
            <a:ext cx="8166735" cy="4572000"/>
          </a:xfrm>
        </p:spPr>
        <p:txBody>
          <a:bodyPr/>
          <a:p>
            <a:r>
              <a:rPr lang="en-US" altLang="en-US"/>
              <a:t>HttpServlet is </a:t>
            </a:r>
            <a:r>
              <a:rPr lang="en-US" altLang="en-US" b="1"/>
              <a:t>an abstract class </a:t>
            </a:r>
            <a:r>
              <a:rPr lang="en-US" altLang="en-US"/>
              <a:t>that extends </a:t>
            </a:r>
            <a:r>
              <a:rPr lang="en-US" altLang="en-US" b="1"/>
              <a:t>GenericServlet.</a:t>
            </a:r>
            <a:endParaRPr lang="en-US" altLang="en-US"/>
          </a:p>
          <a:p>
            <a:endParaRPr lang="en-US" altLang="en-US"/>
          </a:p>
          <a:p>
            <a:r>
              <a:rPr lang="en-US" altLang="en-US"/>
              <a:t>It is HTTP protocol-specific, designed to handle HTTP requests like </a:t>
            </a:r>
            <a:r>
              <a:rPr lang="en-US" altLang="en-US" b="1"/>
              <a:t>GET, POST, PUT, DELETE</a:t>
            </a:r>
            <a:r>
              <a:rPr lang="en-US" altLang="en-US"/>
              <a:t>, etc.</a:t>
            </a:r>
            <a:endParaRPr lang="en-US" altLang="en-US"/>
          </a:p>
          <a:p>
            <a:endParaRPr lang="en-US" altLang="en-US"/>
          </a:p>
          <a:p>
            <a:r>
              <a:rPr lang="en-US" altLang="en-US"/>
              <a:t>Part of the</a:t>
            </a:r>
            <a:r>
              <a:rPr lang="en-US" altLang="en-US" b="1"/>
              <a:t> javax.servlet.http</a:t>
            </a:r>
            <a:r>
              <a:rPr lang="en-US" altLang="en-US"/>
              <a:t> package.</a:t>
            </a:r>
            <a:endParaRPr lang="en-US" altLang="en-US"/>
          </a:p>
          <a:p>
            <a:pPr marL="0" indent="0">
              <a:buNone/>
            </a:pPr>
            <a:endParaRPr lang="en-US" altLang="en-US"/>
          </a:p>
          <a:p>
            <a:pPr marL="0" indent="0">
              <a:buNone/>
            </a:pPr>
            <a:r>
              <a:rPr lang="zh-CN" altLang="en-US"/>
              <a:t>📦</a:t>
            </a:r>
            <a:r>
              <a:rPr lang="en-US" altLang="en-US"/>
              <a:t> Package:</a:t>
            </a:r>
            <a:endParaRPr lang="en-US" altLang="en-US"/>
          </a:p>
          <a:p>
            <a:pPr marL="0" indent="0">
              <a:buNone/>
            </a:pPr>
            <a:r>
              <a:rPr lang="en-US" altLang="en-US"/>
              <a:t>java</a:t>
            </a:r>
            <a:endParaRPr lang="en-US" altLang="en-US"/>
          </a:p>
          <a:p>
            <a:pPr marL="0" indent="0">
              <a:buNone/>
            </a:pPr>
            <a:r>
              <a:rPr lang="en-US" altLang="en-US" b="1"/>
              <a:t>javax.servlet.http.HttpServlet</a:t>
            </a:r>
            <a:endParaRPr lang="en-US" altLang="en-US"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8760" y="274955"/>
            <a:ext cx="8448040" cy="1143000"/>
          </a:xfrm>
        </p:spPr>
        <p:txBody>
          <a:bodyPr/>
          <a:p>
            <a:r>
              <a:rPr lang="en-US" b="1" noProof="0" dirty="0" smtClean="0">
                <a:ln>
                  <a:noFill/>
                </a:ln>
                <a:solidFill>
                  <a:schemeClr val="tx1"/>
                </a:solidFill>
                <a:effectLst/>
                <a:uLnTx/>
                <a:uFillTx/>
                <a:latin typeface="+mn-lt"/>
                <a:ea typeface="+mn-ea"/>
                <a:cs typeface="+mn-cs"/>
                <a:sym typeface="+mn-ea"/>
              </a:rPr>
              <a:t>MyServlet</a:t>
            </a:r>
            <a:endParaRPr lang="en-US"/>
          </a:p>
        </p:txBody>
      </p:sp>
      <p:sp>
        <p:nvSpPr>
          <p:cNvPr id="3" name="Content Placeholder 2"/>
          <p:cNvSpPr>
            <a:spLocks noGrp="1"/>
          </p:cNvSpPr>
          <p:nvPr>
            <p:ph sz="quarter" idx="1"/>
          </p:nvPr>
        </p:nvSpPr>
        <p:spPr>
          <a:xfrm>
            <a:off x="490220" y="1447800"/>
            <a:ext cx="8196580" cy="4572000"/>
          </a:xfrm>
        </p:spPr>
        <p:txBody>
          <a:bodyPr/>
          <a:p>
            <a:pPr algn="just"/>
            <a:r>
              <a:rPr lang="en-US" altLang="en-US"/>
              <a:t>MyServlet is just a </a:t>
            </a:r>
            <a:r>
              <a:rPr lang="en-US" altLang="en-US" b="1"/>
              <a:t>user-defined name </a:t>
            </a:r>
            <a:r>
              <a:rPr lang="en-US" altLang="en-US"/>
              <a:t>for your servlet class.</a:t>
            </a:r>
            <a:endParaRPr lang="en-US" altLang="en-US"/>
          </a:p>
          <a:p>
            <a:pPr algn="just"/>
            <a:endParaRPr lang="en-US" altLang="en-US"/>
          </a:p>
          <a:p>
            <a:pPr algn="just"/>
            <a:r>
              <a:rPr lang="en-US" altLang="en-US"/>
              <a:t>It usually </a:t>
            </a:r>
            <a:r>
              <a:rPr lang="en-US" altLang="en-US" b="1"/>
              <a:t>extends HttpServlet</a:t>
            </a:r>
            <a:r>
              <a:rPr lang="en-US" altLang="en-US"/>
              <a:t> or i</a:t>
            </a:r>
            <a:r>
              <a:rPr lang="en-US" altLang="en-US" b="1"/>
              <a:t>mplements Servlet</a:t>
            </a:r>
            <a:r>
              <a:rPr lang="en-US" altLang="en-US"/>
              <a:t>, depending on your needs.</a:t>
            </a:r>
            <a:endParaRPr lang="en-US" altLang="en-US"/>
          </a:p>
          <a:p>
            <a:pPr algn="just"/>
            <a:endParaRPr lang="en-US" altLang="en-US"/>
          </a:p>
          <a:p>
            <a:pPr algn="just"/>
            <a:r>
              <a:rPr lang="en-US" altLang="en-US"/>
              <a:t>The most common and recommended way is to </a:t>
            </a:r>
            <a:r>
              <a:rPr lang="en-US" altLang="en-US" b="1"/>
              <a:t>extend HttpServlet for handling web-based (HTTP) requests.</a:t>
            </a:r>
            <a:endParaRPr lang="en-US" altLang="en-US"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8280" y="274955"/>
            <a:ext cx="8478520" cy="539115"/>
          </a:xfrm>
        </p:spPr>
        <p:txBody>
          <a:bodyPr/>
          <a:p>
            <a:r>
              <a:rPr lang="en-US"/>
              <a:t>Example Program</a:t>
            </a:r>
            <a:endParaRPr lang="en-US"/>
          </a:p>
        </p:txBody>
      </p:sp>
      <p:sp>
        <p:nvSpPr>
          <p:cNvPr id="3" name="Content Placeholder 2"/>
          <p:cNvSpPr>
            <a:spLocks noGrp="1"/>
          </p:cNvSpPr>
          <p:nvPr>
            <p:ph sz="quarter" idx="1"/>
          </p:nvPr>
        </p:nvSpPr>
        <p:spPr>
          <a:xfrm>
            <a:off x="391160" y="813435"/>
            <a:ext cx="8295640" cy="5700395"/>
          </a:xfrm>
        </p:spPr>
        <p:txBody>
          <a:bodyPr/>
          <a:p>
            <a:pPr marL="0" indent="0">
              <a:buNone/>
            </a:pPr>
            <a:r>
              <a:rPr lang="en-US" altLang="en-US" sz="2000"/>
              <a:t> Example: MyServlet Using HttpServlet</a:t>
            </a:r>
            <a:endParaRPr lang="en-US" altLang="en-US" sz="2000"/>
          </a:p>
          <a:p>
            <a:pPr marL="0" indent="0">
              <a:buNone/>
            </a:pPr>
            <a:r>
              <a:rPr lang="en-US" altLang="en-US" sz="2000"/>
              <a:t>import javax.servlet.http.*;</a:t>
            </a:r>
            <a:endParaRPr lang="en-US" altLang="en-US" sz="2000"/>
          </a:p>
          <a:p>
            <a:pPr marL="0" indent="0">
              <a:buNone/>
            </a:pPr>
            <a:r>
              <a:rPr lang="en-US" altLang="en-US" sz="2000"/>
              <a:t>import javax.servlet.*;</a:t>
            </a:r>
            <a:endParaRPr lang="en-US" altLang="en-US" sz="2000"/>
          </a:p>
          <a:p>
            <a:pPr marL="0" indent="0">
              <a:buNone/>
            </a:pPr>
            <a:r>
              <a:rPr lang="en-US" altLang="en-US" sz="2000"/>
              <a:t>import java.io.*;</a:t>
            </a:r>
            <a:endParaRPr lang="en-US" altLang="en-US" sz="2000"/>
          </a:p>
          <a:p>
            <a:pPr marL="0" indent="0">
              <a:buNone/>
            </a:pPr>
            <a:endParaRPr lang="en-US" altLang="en-US" sz="2000"/>
          </a:p>
          <a:p>
            <a:pPr marL="0" indent="0">
              <a:buNone/>
            </a:pPr>
            <a:r>
              <a:rPr lang="en-US" altLang="en-US" sz="2000"/>
              <a:t>public class MyServlet extends HttpServlet {</a:t>
            </a:r>
            <a:endParaRPr lang="en-US" altLang="en-US" sz="2000"/>
          </a:p>
          <a:p>
            <a:pPr marL="0" indent="0">
              <a:buNone/>
            </a:pPr>
            <a:r>
              <a:rPr lang="en-US" altLang="en-US" sz="2000"/>
              <a:t>    protected void doGet(HttpServletRequest req, HttpServletResponse res) throws ServletException, IOException {</a:t>
            </a:r>
            <a:endParaRPr lang="en-US" altLang="en-US" sz="2000"/>
          </a:p>
          <a:p>
            <a:pPr marL="0" indent="0">
              <a:buNone/>
            </a:pPr>
            <a:r>
              <a:rPr lang="en-US" altLang="en-US" sz="2000"/>
              <a:t>        res.setContentType("text/html");</a:t>
            </a:r>
            <a:endParaRPr lang="en-US" altLang="en-US" sz="2000"/>
          </a:p>
          <a:p>
            <a:pPr marL="0" indent="0">
              <a:buNone/>
            </a:pPr>
            <a:r>
              <a:rPr lang="en-US" altLang="en-US" sz="2000"/>
              <a:t>        PrintWriter out = res.getWriter();</a:t>
            </a:r>
            <a:endParaRPr lang="en-US" altLang="en-US" sz="2000"/>
          </a:p>
          <a:p>
            <a:pPr marL="0" indent="0">
              <a:buNone/>
            </a:pPr>
            <a:r>
              <a:rPr lang="en-US" altLang="en-US" sz="2000"/>
              <a:t>        out.println("&lt;h2&gt;Welcome to MyServlet!&lt;/h2&gt;");</a:t>
            </a:r>
            <a:endParaRPr lang="en-US" altLang="en-US" sz="2000"/>
          </a:p>
          <a:p>
            <a:pPr marL="0" indent="0">
              <a:buNone/>
            </a:pPr>
            <a:r>
              <a:rPr lang="en-US" altLang="en-US" sz="2000"/>
              <a:t>    }</a:t>
            </a:r>
            <a:endParaRPr lang="en-US" altLang="en-US" sz="2000"/>
          </a:p>
          <a:p>
            <a:pPr marL="0" indent="0">
              <a:buNone/>
            </a:pPr>
            <a:r>
              <a:rPr lang="en-US" altLang="en-US" sz="2000"/>
              <a:t>}</a:t>
            </a:r>
            <a:endParaRPr lang="en-US"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a:xfrm>
            <a:off x="304800" y="274638"/>
            <a:ext cx="8382000" cy="1020762"/>
          </a:xfrm>
        </p:spPr>
        <p:txBody>
          <a:bodyPr vert="horz" wrap="square" lIns="91440" tIns="45720" rIns="91440" bIns="91440" anchor="b" anchorCtr="0"/>
          <a:p>
            <a:r>
              <a:rPr b="1" dirty="0"/>
              <a:t>Servlet Execution</a:t>
            </a:r>
            <a:endParaRPr b="1" dirty="0"/>
          </a:p>
        </p:txBody>
      </p:sp>
      <p:pic>
        <p:nvPicPr>
          <p:cNvPr id="20483" name="Picture 2"/>
          <p:cNvPicPr>
            <a:picLocks noGrp="1" noChangeAspect="1"/>
          </p:cNvPicPr>
          <p:nvPr>
            <p:ph sz="quarter" idx="1"/>
          </p:nvPr>
        </p:nvPicPr>
        <p:blipFill>
          <a:blip r:embed="rId1"/>
          <a:srcRect/>
          <a:stretch>
            <a:fillRect/>
          </a:stretch>
        </p:blipFill>
        <p:spPr>
          <a:xfrm>
            <a:off x="457200" y="1905000"/>
            <a:ext cx="8458200" cy="41910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xfrm>
            <a:off x="381000" y="274638"/>
            <a:ext cx="8763000" cy="1020762"/>
          </a:xfrm>
        </p:spPr>
        <p:txBody>
          <a:bodyPr vert="horz" wrap="square" lIns="91440" tIns="45720" rIns="91440" bIns="91440" anchor="b" anchorCtr="0"/>
          <a:p>
            <a:r>
              <a:rPr sz="3600" b="1" dirty="0"/>
              <a:t>Servlet Request Flow</a:t>
            </a:r>
            <a:br>
              <a:rPr b="1" dirty="0"/>
            </a:br>
            <a:endParaRPr dirty="0"/>
          </a:p>
        </p:txBody>
      </p:sp>
      <p:sp>
        <p:nvSpPr>
          <p:cNvPr id="21507" name="Content Placeholder 2"/>
          <p:cNvSpPr>
            <a:spLocks noGrp="1"/>
          </p:cNvSpPr>
          <p:nvPr>
            <p:ph sz="quarter" idx="1"/>
          </p:nvPr>
        </p:nvSpPr>
        <p:spPr>
          <a:xfrm>
            <a:off x="304800" y="762000"/>
            <a:ext cx="8610600" cy="57912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The client sends a request.</a:t>
            </a:r>
            <a:endParaRPr dirty="0"/>
          </a:p>
          <a:p>
            <a:pPr algn="just">
              <a:buClr>
                <a:schemeClr val="accent1"/>
              </a:buClr>
              <a:buSzPct val="85000"/>
              <a:buFont typeface="Wingdings 2" panose="05020102010507070707" pitchFamily="18" charset="2"/>
            </a:pPr>
            <a:r>
              <a:rPr dirty="0"/>
              <a:t>Web Server accepts the request and forwards it to the web container.</a:t>
            </a:r>
            <a:endParaRPr dirty="0"/>
          </a:p>
          <a:p>
            <a:pPr algn="just">
              <a:buClr>
                <a:schemeClr val="accent1"/>
              </a:buClr>
              <a:buSzPct val="85000"/>
              <a:buFont typeface="Wingdings 2" panose="05020102010507070707" pitchFamily="18" charset="2"/>
            </a:pPr>
            <a:r>
              <a:rPr dirty="0"/>
              <a:t>Web container searches </a:t>
            </a:r>
            <a:r>
              <a:rPr b="1" dirty="0"/>
              <a:t>web.xml file </a:t>
            </a:r>
            <a:r>
              <a:rPr dirty="0"/>
              <a:t>for request </a:t>
            </a:r>
            <a:r>
              <a:rPr b="1" dirty="0"/>
              <a:t>URL pattern </a:t>
            </a:r>
            <a:r>
              <a:rPr dirty="0"/>
              <a:t>and </a:t>
            </a:r>
            <a:r>
              <a:rPr b="1" dirty="0"/>
              <a:t>gets the address of the servlet.</a:t>
            </a:r>
            <a:endParaRPr b="1" dirty="0"/>
          </a:p>
          <a:p>
            <a:pPr algn="just">
              <a:buClr>
                <a:schemeClr val="accent1"/>
              </a:buClr>
              <a:buSzPct val="85000"/>
              <a:buFont typeface="Wingdings 2" panose="05020102010507070707" pitchFamily="18" charset="2"/>
            </a:pPr>
            <a:r>
              <a:rPr dirty="0"/>
              <a:t>If the servlet is not yet instantiated, it will be instantiated and initialized by calling the</a:t>
            </a:r>
            <a:r>
              <a:rPr b="1" dirty="0"/>
              <a:t> init() method</a:t>
            </a:r>
            <a:r>
              <a:rPr dirty="0"/>
              <a:t>.</a:t>
            </a:r>
            <a:endParaRPr dirty="0"/>
          </a:p>
          <a:p>
            <a:pPr algn="just">
              <a:buClr>
                <a:schemeClr val="accent1"/>
              </a:buClr>
              <a:buSzPct val="85000"/>
              <a:buFont typeface="Wingdings 2" panose="05020102010507070707" pitchFamily="18" charset="2"/>
            </a:pPr>
            <a:r>
              <a:rPr dirty="0"/>
              <a:t>The container calls public</a:t>
            </a:r>
            <a:r>
              <a:rPr b="1" dirty="0"/>
              <a:t> service() </a:t>
            </a:r>
            <a:r>
              <a:rPr dirty="0"/>
              <a:t>by passing </a:t>
            </a:r>
            <a:r>
              <a:rPr b="1" dirty="0"/>
              <a:t>ServletRequest</a:t>
            </a:r>
            <a:r>
              <a:rPr dirty="0"/>
              <a:t> and </a:t>
            </a:r>
            <a:r>
              <a:rPr b="1" dirty="0"/>
              <a:t>ServletResponse</a:t>
            </a:r>
            <a:r>
              <a:rPr dirty="0"/>
              <a:t> objects.</a:t>
            </a:r>
            <a:endParaRPr dirty="0"/>
          </a:p>
          <a:p>
            <a:pPr algn="just">
              <a:buClr>
                <a:schemeClr val="accent1"/>
              </a:buClr>
              <a:buSzPct val="85000"/>
              <a:buFont typeface="Wingdings 2" panose="05020102010507070707" pitchFamily="18" charset="2"/>
            </a:pPr>
            <a:r>
              <a:rPr dirty="0"/>
              <a:t>Public </a:t>
            </a:r>
            <a:r>
              <a:rPr b="1" dirty="0"/>
              <a:t>service() </a:t>
            </a:r>
            <a:r>
              <a:rPr dirty="0"/>
              <a:t>method </a:t>
            </a:r>
            <a:r>
              <a:rPr b="1" dirty="0"/>
              <a:t>typecast ServletRequest and ServletResponse object to HttpServletRequest</a:t>
            </a:r>
            <a:r>
              <a:rPr dirty="0"/>
              <a:t> and </a:t>
            </a:r>
            <a:r>
              <a:rPr b="1" dirty="0"/>
              <a:t>HttpServletResponse</a:t>
            </a:r>
            <a:r>
              <a:rPr dirty="0"/>
              <a:t> </a:t>
            </a:r>
            <a:r>
              <a:rPr b="1" dirty="0"/>
              <a:t>objects</a:t>
            </a:r>
            <a:r>
              <a:rPr dirty="0"/>
              <a:t> respectively.</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xfrm>
            <a:off x="304800" y="274638"/>
            <a:ext cx="8610600" cy="792162"/>
          </a:xfrm>
        </p:spPr>
        <p:txBody>
          <a:bodyPr vert="horz" wrap="square" lIns="91440" tIns="45720" rIns="91440" bIns="91440" anchor="b" anchorCtr="0"/>
          <a:p>
            <a:r>
              <a:rPr sz="3600" b="1" dirty="0"/>
              <a:t>Servlet Request Flow</a:t>
            </a:r>
            <a:endParaRPr sz="3600" dirty="0"/>
          </a:p>
        </p:txBody>
      </p:sp>
      <p:sp>
        <p:nvSpPr>
          <p:cNvPr id="22531" name="Content Placeholder 2"/>
          <p:cNvSpPr>
            <a:spLocks noGrp="1"/>
          </p:cNvSpPr>
          <p:nvPr>
            <p:ph sz="quarter" idx="1"/>
          </p:nvPr>
        </p:nvSpPr>
        <p:spPr>
          <a:xfrm>
            <a:off x="381000" y="1447800"/>
            <a:ext cx="8534400" cy="4953000"/>
          </a:xfrm>
        </p:spPr>
        <p:txBody>
          <a:bodyPr vert="horz" wrap="square" lIns="91440" tIns="45720" rIns="91440" bIns="45720" anchor="t" anchorCtr="0"/>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b="1" dirty="0"/>
              <a:t>Public service() </a:t>
            </a:r>
            <a:r>
              <a:rPr dirty="0"/>
              <a:t>method calls protected </a:t>
            </a:r>
            <a:r>
              <a:rPr b="1" dirty="0"/>
              <a:t>service().</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b="1" dirty="0"/>
              <a:t>Protected service() </a:t>
            </a:r>
            <a:r>
              <a:rPr dirty="0"/>
              <a:t>method checks the client request &amp; corresponding </a:t>
            </a:r>
            <a:r>
              <a:rPr lang="en-US" altLang="en-US" b="1" dirty="0"/>
              <a:t>doGet(), doPost(</a:t>
            </a:r>
            <a:r>
              <a:rPr lang="en-US" altLang="en-US" dirty="0"/>
              <a:t>) </a:t>
            </a:r>
            <a:r>
              <a:rPr dirty="0"/>
              <a:t>method is called.</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The request is handled by sending the result generated by </a:t>
            </a:r>
            <a:r>
              <a:rPr lang="en-US" altLang="en-US" dirty="0"/>
              <a:t>d</a:t>
            </a:r>
            <a:r>
              <a:rPr lang="en-US" altLang="en-US" b="1" dirty="0"/>
              <a:t>oGet(), doPost() </a:t>
            </a:r>
            <a:r>
              <a:rPr dirty="0"/>
              <a:t>to the client.</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a:xfrm>
            <a:off x="0" y="-228600"/>
            <a:ext cx="8458200" cy="1630363"/>
          </a:xfrm>
        </p:spPr>
        <p:txBody>
          <a:bodyPr vert="horz" wrap="square" lIns="91440" tIns="45720" rIns="91440" bIns="91440" anchor="b" anchorCtr="0"/>
          <a:p>
            <a:r>
              <a:rPr sz="3600" b="1" dirty="0"/>
              <a:t>Life Cycle of a Servlet (Servlet Life Cycle)</a:t>
            </a:r>
            <a:br>
              <a:rPr dirty="0"/>
            </a:br>
            <a:endParaRPr dirty="0"/>
          </a:p>
        </p:txBody>
      </p:sp>
      <p:sp>
        <p:nvSpPr>
          <p:cNvPr id="3" name="Content Placeholder 2"/>
          <p:cNvSpPr>
            <a:spLocks noGrp="1"/>
          </p:cNvSpPr>
          <p:nvPr>
            <p:ph sz="quarter" idx="1"/>
          </p:nvPr>
        </p:nvSpPr>
        <p:spPr>
          <a:xfrm>
            <a:off x="228600" y="1219200"/>
            <a:ext cx="8915400" cy="5638800"/>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web container maintains the life cycle of a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servlet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instance. Let's see the life cycle of the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servlet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Servlet class is loaded.</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Servlet instance is created.</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init method is invoked.</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service method is invoked.</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destroy method is invoked.</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8" name="Picture 2"/>
          <p:cNvPicPr>
            <a:picLocks noGrp="1" noChangeAspect="1"/>
          </p:cNvPicPr>
          <p:nvPr>
            <p:ph sz="quarter" idx="1"/>
          </p:nvPr>
        </p:nvPicPr>
        <p:blipFill>
          <a:blip r:embed="rId1"/>
          <a:srcRect/>
          <a:stretch>
            <a:fillRect/>
          </a:stretch>
        </p:blipFill>
        <p:spPr>
          <a:xfrm>
            <a:off x="2871788" y="1647825"/>
            <a:ext cx="3857625" cy="4171950"/>
          </a:xfrm>
        </p:spPr>
      </p:pic>
      <p:pic>
        <p:nvPicPr>
          <p:cNvPr id="24579" name="Picture 3"/>
          <p:cNvPicPr>
            <a:picLocks noChangeAspect="1"/>
          </p:cNvPicPr>
          <p:nvPr/>
        </p:nvPicPr>
        <p:blipFill>
          <a:blip r:embed="rId1"/>
          <a:stretch>
            <a:fillRect/>
          </a:stretch>
        </p:blipFill>
        <p:spPr>
          <a:xfrm>
            <a:off x="381000" y="533400"/>
            <a:ext cx="8229600" cy="5943600"/>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Content Placeholder 2"/>
          <p:cNvSpPr>
            <a:spLocks noGrp="1"/>
          </p:cNvSpPr>
          <p:nvPr>
            <p:ph sz="quarter" idx="1"/>
          </p:nvPr>
        </p:nvSpPr>
        <p:spPr>
          <a:xfrm>
            <a:off x="0" y="0"/>
            <a:ext cx="9144000" cy="68580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1) Servlet class is loaded</a:t>
            </a:r>
            <a:endParaRPr b="1" dirty="0"/>
          </a:p>
          <a:p>
            <a:pPr>
              <a:buClr>
                <a:schemeClr val="accent1"/>
              </a:buClr>
              <a:buSzPct val="85000"/>
              <a:buFont typeface="Wingdings 2" panose="05020102010507070707" pitchFamily="18" charset="2"/>
            </a:pPr>
            <a:r>
              <a:rPr dirty="0"/>
              <a:t>    The classloader is responsible </a:t>
            </a:r>
            <a:r>
              <a:rPr b="1" dirty="0"/>
              <a:t>to load the servlet class</a:t>
            </a:r>
            <a:r>
              <a:rPr dirty="0"/>
              <a:t>. The servlet class is </a:t>
            </a:r>
            <a:r>
              <a:rPr b="1" dirty="0"/>
              <a:t>loaded </a:t>
            </a:r>
            <a:r>
              <a:rPr dirty="0"/>
              <a:t>when the first request for the servlet is received by the web container.</a:t>
            </a:r>
            <a:endParaRPr dirty="0"/>
          </a:p>
          <a:p>
            <a:pPr>
              <a:buClr>
                <a:schemeClr val="accent1"/>
              </a:buClr>
              <a:buSzPct val="85000"/>
              <a:buFont typeface="Wingdings 2" panose="05020102010507070707" pitchFamily="18" charset="2"/>
              <a:buNone/>
            </a:pPr>
            <a:r>
              <a:rPr dirty="0"/>
              <a:t>2</a:t>
            </a:r>
            <a:r>
              <a:rPr b="1" dirty="0"/>
              <a:t>) Servlet instance is created</a:t>
            </a:r>
            <a:endParaRPr b="1" dirty="0"/>
          </a:p>
          <a:p>
            <a:pPr>
              <a:buClr>
                <a:schemeClr val="accent1"/>
              </a:buClr>
              <a:buSzPct val="85000"/>
              <a:buFont typeface="Wingdings 2" panose="05020102010507070707" pitchFamily="18" charset="2"/>
            </a:pPr>
            <a:r>
              <a:rPr dirty="0"/>
              <a:t>The web container </a:t>
            </a:r>
            <a:r>
              <a:rPr b="1" dirty="0"/>
              <a:t>creates the instance of a servlet </a:t>
            </a:r>
            <a:r>
              <a:rPr dirty="0"/>
              <a:t>after loading the servlet class. The servlet instance is created o</a:t>
            </a:r>
            <a:r>
              <a:rPr b="1" dirty="0"/>
              <a:t>nly once in the servlet life cycle.</a:t>
            </a:r>
            <a:endParaRPr b="1" dirty="0"/>
          </a:p>
          <a:p>
            <a:pPr fontAlgn="t">
              <a:buClr>
                <a:schemeClr val="accent1"/>
              </a:buClr>
              <a:buSzPct val="85000"/>
              <a:buFont typeface="Wingdings 2" panose="05020102010507070707" pitchFamily="18" charset="2"/>
              <a:buNone/>
            </a:pPr>
            <a:r>
              <a:rPr b="1" dirty="0"/>
              <a:t>Play Videox</a:t>
            </a:r>
            <a:endParaRPr b="1" dirty="0"/>
          </a:p>
          <a:p>
            <a:pPr>
              <a:buClr>
                <a:schemeClr val="accent1"/>
              </a:buClr>
              <a:buSzPct val="85000"/>
              <a:buFont typeface="Wingdings 2" panose="05020102010507070707" pitchFamily="18" charset="2"/>
              <a:buNone/>
            </a:pPr>
            <a:r>
              <a:rPr b="1" dirty="0"/>
              <a:t>3) init method is invoked</a:t>
            </a:r>
            <a:endParaRPr b="1" dirty="0"/>
          </a:p>
          <a:p>
            <a:pPr>
              <a:buClr>
                <a:schemeClr val="accent1"/>
              </a:buClr>
              <a:buSzPct val="85000"/>
              <a:buFont typeface="Wingdings 2" panose="05020102010507070707" pitchFamily="18" charset="2"/>
            </a:pPr>
            <a:r>
              <a:rPr dirty="0"/>
              <a:t>The web container calls the</a:t>
            </a:r>
            <a:r>
              <a:rPr b="1" dirty="0"/>
              <a:t> init method</a:t>
            </a:r>
            <a:r>
              <a:rPr dirty="0"/>
              <a:t> only once after creating the servlet instance. The init method is used to </a:t>
            </a:r>
            <a:r>
              <a:rPr b="1" dirty="0"/>
              <a:t>initialize the servlet</a:t>
            </a:r>
            <a:r>
              <a:rPr dirty="0"/>
              <a:t>. It is the life cycle method of the </a:t>
            </a:r>
            <a:r>
              <a:rPr b="1" dirty="0"/>
              <a:t>javax.servlet.Servlet interface</a:t>
            </a:r>
            <a:r>
              <a:rPr dirty="0"/>
              <a:t>. </a:t>
            </a:r>
            <a:r>
              <a:rPr b="1" dirty="0"/>
              <a:t>Syntax</a:t>
            </a:r>
            <a:r>
              <a:rPr dirty="0"/>
              <a:t> of the </a:t>
            </a:r>
            <a:r>
              <a:rPr b="1" dirty="0"/>
              <a:t>init method </a:t>
            </a:r>
            <a:r>
              <a:rPr dirty="0"/>
              <a:t>is given below:</a:t>
            </a:r>
            <a:endParaRPr dirty="0"/>
          </a:p>
          <a:p>
            <a:pPr>
              <a:buClr>
                <a:schemeClr val="accent1"/>
              </a:buClr>
              <a:buSzPct val="85000"/>
              <a:buFont typeface="Wingdings 2" panose="05020102010507070707" pitchFamily="18" charset="2"/>
              <a:buNone/>
            </a:pPr>
            <a:r>
              <a:rPr b="1" dirty="0"/>
              <a:t>   public</a:t>
            </a:r>
            <a:r>
              <a:rPr dirty="0"/>
              <a:t> </a:t>
            </a:r>
            <a:r>
              <a:rPr b="1" dirty="0"/>
              <a:t>void</a:t>
            </a:r>
            <a:r>
              <a:rPr dirty="0"/>
              <a:t> init(ServletConfig config) </a:t>
            </a:r>
            <a:r>
              <a:rPr b="1" dirty="0"/>
              <a:t>throws</a:t>
            </a:r>
            <a:r>
              <a:rPr dirty="0"/>
              <a:t> ServletException  </a:t>
            </a:r>
            <a:endParaRPr dirty="0"/>
          </a:p>
          <a:p>
            <a:pPr>
              <a:buClr>
                <a:schemeClr val="accent1"/>
              </a:buClr>
              <a:buSzPct val="85000"/>
              <a:buFont typeface="Wingdings 2" panose="05020102010507070707" pitchFamily="18" charset="2"/>
              <a:buNone/>
            </a:pPr>
            <a:br>
              <a:rPr dirty="0"/>
            </a:br>
            <a:endParaRPr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Content Placeholder 2"/>
          <p:cNvSpPr>
            <a:spLocks noGrp="1"/>
          </p:cNvSpPr>
          <p:nvPr>
            <p:ph sz="quarter" idx="1"/>
          </p:nvPr>
        </p:nvSpPr>
        <p:spPr>
          <a:xfrm>
            <a:off x="228600" y="304800"/>
            <a:ext cx="8915400" cy="62484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4) service method is invoked</a:t>
            </a:r>
            <a:endParaRPr b="1" dirty="0"/>
          </a:p>
          <a:p>
            <a:pPr>
              <a:buClr>
                <a:schemeClr val="accent1"/>
              </a:buClr>
              <a:buSzPct val="85000"/>
              <a:buFont typeface="Wingdings" panose="05000000000000000000" pitchFamily="2" charset="2"/>
              <a:buChar char="§"/>
            </a:pPr>
            <a:r>
              <a:rPr dirty="0"/>
              <a:t>The web container calls </a:t>
            </a:r>
            <a:r>
              <a:rPr b="1" dirty="0"/>
              <a:t>the service method each time</a:t>
            </a:r>
            <a:r>
              <a:rPr dirty="0"/>
              <a:t> when </a:t>
            </a:r>
            <a:r>
              <a:rPr b="1" dirty="0"/>
              <a:t>request for the servlet is received. </a:t>
            </a:r>
            <a:endParaRPr dirty="0"/>
          </a:p>
          <a:p>
            <a:pPr>
              <a:buClr>
                <a:schemeClr val="accent1"/>
              </a:buClr>
              <a:buSzPct val="85000"/>
              <a:buFont typeface="Wingdings" panose="05000000000000000000" pitchFamily="2" charset="2"/>
              <a:buChar char="§"/>
            </a:pPr>
            <a:r>
              <a:rPr b="1" dirty="0"/>
              <a:t>If servlet is not initialized</a:t>
            </a:r>
            <a:r>
              <a:rPr dirty="0"/>
              <a:t>, it follows the first three steps as described above then calls the service method.</a:t>
            </a:r>
            <a:endParaRPr dirty="0"/>
          </a:p>
          <a:p>
            <a:pPr>
              <a:buClr>
                <a:schemeClr val="accent1"/>
              </a:buClr>
              <a:buSzPct val="85000"/>
              <a:buFont typeface="Wingdings" panose="05000000000000000000" pitchFamily="2" charset="2"/>
              <a:buChar char="§"/>
            </a:pPr>
            <a:r>
              <a:rPr dirty="0"/>
              <a:t> </a:t>
            </a:r>
            <a:r>
              <a:rPr b="1" dirty="0"/>
              <a:t>If servlet is initialized</a:t>
            </a:r>
            <a:r>
              <a:rPr dirty="0"/>
              <a:t>, it calls the service method. Notice that servlet is initialized only once. </a:t>
            </a:r>
            <a:endParaRPr dirty="0"/>
          </a:p>
          <a:p>
            <a:pPr>
              <a:buClr>
                <a:schemeClr val="accent1"/>
              </a:buClr>
              <a:buSzPct val="85000"/>
              <a:buFont typeface="Wingdings 2" panose="05020102010507070707" pitchFamily="18" charset="2"/>
              <a:buNone/>
            </a:pPr>
            <a:endParaRPr dirty="0"/>
          </a:p>
          <a:p>
            <a:pPr>
              <a:buClr>
                <a:schemeClr val="accent1"/>
              </a:buClr>
              <a:buSzPct val="85000"/>
              <a:buFont typeface="Wingdings 2" panose="05020102010507070707" pitchFamily="18" charset="2"/>
              <a:buNone/>
            </a:pPr>
            <a:r>
              <a:rPr dirty="0"/>
              <a:t>The</a:t>
            </a:r>
            <a:r>
              <a:rPr b="1" dirty="0"/>
              <a:t> syntax </a:t>
            </a:r>
            <a:r>
              <a:rPr dirty="0"/>
              <a:t>of the service method of the Servlet interface is given below:</a:t>
            </a:r>
            <a:endParaRPr dirty="0"/>
          </a:p>
          <a:p>
            <a:pPr>
              <a:buClr>
                <a:schemeClr val="accent1"/>
              </a:buClr>
              <a:buSzPct val="85000"/>
              <a:buFont typeface="Wingdings 2" panose="05020102010507070707" pitchFamily="18" charset="2"/>
              <a:buNone/>
            </a:pPr>
            <a:endParaRPr dirty="0"/>
          </a:p>
          <a:p>
            <a:pPr>
              <a:buClr>
                <a:schemeClr val="accent1"/>
              </a:buClr>
              <a:buSzPct val="85000"/>
              <a:buFont typeface="Wingdings 2" panose="05020102010507070707" pitchFamily="18" charset="2"/>
              <a:buNone/>
            </a:pPr>
            <a:r>
              <a:rPr b="1" dirty="0"/>
              <a:t>  public</a:t>
            </a:r>
            <a:r>
              <a:rPr dirty="0"/>
              <a:t> </a:t>
            </a:r>
            <a:r>
              <a:rPr b="1" dirty="0"/>
              <a:t>void</a:t>
            </a:r>
            <a:r>
              <a:rPr dirty="0"/>
              <a:t> service(ServletRequest request, ServletResponse respo</a:t>
            </a:r>
            <a:endParaRPr dirty="0"/>
          </a:p>
          <a:p>
            <a:pPr>
              <a:buClr>
                <a:schemeClr val="accent1"/>
              </a:buClr>
              <a:buSzPct val="85000"/>
              <a:buFont typeface="Wingdings 2" panose="05020102010507070707" pitchFamily="18" charset="2"/>
              <a:buNone/>
            </a:pPr>
            <a:r>
              <a:rPr dirty="0"/>
              <a:t>  </a:t>
            </a:r>
            <a:r>
              <a:rPr b="1" dirty="0"/>
              <a:t>throws</a:t>
            </a:r>
            <a:r>
              <a:rPr dirty="0"/>
              <a:t> ServletException, IOException </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Content Placeholder 2"/>
          <p:cNvSpPr>
            <a:spLocks noGrp="1"/>
          </p:cNvSpPr>
          <p:nvPr>
            <p:ph sz="quarter" idx="1"/>
          </p:nvPr>
        </p:nvSpPr>
        <p:spPr>
          <a:xfrm>
            <a:off x="0" y="0"/>
            <a:ext cx="9144000" cy="6629400"/>
          </a:xfrm>
        </p:spPr>
        <p:txBody>
          <a:bodyPr vert="horz" wrap="square" lIns="91440" tIns="45720" rIns="91440" bIns="45720" anchor="t" anchorCtr="0"/>
          <a:p>
            <a:pPr>
              <a:buClr>
                <a:schemeClr val="accent1"/>
              </a:buClr>
              <a:buSzPct val="85000"/>
              <a:buFont typeface="Wingdings 2" panose="05020102010507070707" pitchFamily="18" charset="2"/>
              <a:buNone/>
            </a:pPr>
            <a:r>
              <a:rPr dirty="0"/>
              <a:t> </a:t>
            </a:r>
            <a:endParaRPr dirty="0"/>
          </a:p>
          <a:p>
            <a:pPr>
              <a:buClr>
                <a:schemeClr val="accent1"/>
              </a:buClr>
              <a:buSzPct val="85000"/>
              <a:buFont typeface="Wingdings 2" panose="05020102010507070707" pitchFamily="18" charset="2"/>
              <a:buNone/>
            </a:pPr>
            <a:r>
              <a:rPr b="1" dirty="0"/>
              <a:t>5) destroy method is invoked</a:t>
            </a:r>
            <a:endParaRPr b="1" dirty="0"/>
          </a:p>
          <a:p>
            <a:pPr>
              <a:buClr>
                <a:schemeClr val="accent1"/>
              </a:buClr>
              <a:buSzPct val="85000"/>
              <a:buFont typeface="Wingdings 2" panose="05020102010507070707" pitchFamily="18" charset="2"/>
              <a:buNone/>
            </a:pPr>
            <a:endParaRPr b="1" dirty="0"/>
          </a:p>
          <a:p>
            <a:pPr>
              <a:buClr>
                <a:schemeClr val="accent1"/>
              </a:buClr>
              <a:buSzPct val="85000"/>
              <a:buFont typeface="Wingdings" panose="05000000000000000000" pitchFamily="2" charset="2"/>
              <a:buChar char="§"/>
            </a:pPr>
            <a:r>
              <a:rPr dirty="0"/>
              <a:t>The web container </a:t>
            </a:r>
            <a:r>
              <a:rPr b="1" dirty="0"/>
              <a:t>calls the destroy method</a:t>
            </a:r>
            <a:r>
              <a:rPr dirty="0"/>
              <a:t> before removing the servlet instance from the service. </a:t>
            </a:r>
            <a:endParaRPr dirty="0"/>
          </a:p>
          <a:p>
            <a:pPr>
              <a:buClr>
                <a:schemeClr val="accent1"/>
              </a:buClr>
              <a:buSzPct val="85000"/>
              <a:buFont typeface="Wingdings" panose="05000000000000000000" pitchFamily="2" charset="2"/>
              <a:buChar char="§"/>
            </a:pPr>
            <a:endParaRPr dirty="0"/>
          </a:p>
          <a:p>
            <a:pPr>
              <a:buClr>
                <a:schemeClr val="accent1"/>
              </a:buClr>
              <a:buSzPct val="85000"/>
              <a:buFont typeface="Wingdings" panose="05000000000000000000" pitchFamily="2" charset="2"/>
              <a:buChar char="§"/>
            </a:pPr>
            <a:r>
              <a:rPr dirty="0"/>
              <a:t>It gives the servlet an opportunity to clean up any resource for example memory, thread etc.</a:t>
            </a:r>
            <a:endParaRPr dirty="0"/>
          </a:p>
          <a:p>
            <a:pPr>
              <a:buClr>
                <a:schemeClr val="accent1"/>
              </a:buClr>
              <a:buSzPct val="85000"/>
              <a:buFont typeface="Wingdings" panose="05000000000000000000" pitchFamily="2" charset="2"/>
              <a:buChar char="§"/>
            </a:pPr>
            <a:endParaRPr dirty="0"/>
          </a:p>
          <a:p>
            <a:pPr>
              <a:buClr>
                <a:schemeClr val="accent1"/>
              </a:buClr>
              <a:buSzPct val="85000"/>
              <a:buFont typeface="Wingdings" panose="05000000000000000000" pitchFamily="2" charset="2"/>
              <a:buChar char="§"/>
            </a:pPr>
            <a:r>
              <a:rPr dirty="0"/>
              <a:t> </a:t>
            </a:r>
            <a:r>
              <a:rPr b="1" dirty="0"/>
              <a:t>The syntax of the destroy method </a:t>
            </a:r>
            <a:r>
              <a:rPr dirty="0"/>
              <a:t>of the Servlet interface is given below:</a:t>
            </a:r>
            <a:endParaRPr dirty="0"/>
          </a:p>
          <a:p>
            <a:pPr>
              <a:buClr>
                <a:schemeClr val="accent1"/>
              </a:buClr>
              <a:buSzPct val="85000"/>
              <a:buFont typeface="Wingdings 2" panose="05020102010507070707" pitchFamily="18" charset="2"/>
              <a:buNone/>
            </a:pPr>
            <a:endParaRPr dirty="0"/>
          </a:p>
          <a:p>
            <a:pPr>
              <a:buClr>
                <a:schemeClr val="accent1"/>
              </a:buClr>
              <a:buSzPct val="85000"/>
              <a:buFont typeface="Wingdings 2" panose="05020102010507070707" pitchFamily="18" charset="2"/>
              <a:buNone/>
            </a:pPr>
            <a:r>
              <a:rPr b="1" dirty="0"/>
              <a:t>	public</a:t>
            </a:r>
            <a:r>
              <a:rPr dirty="0"/>
              <a:t> </a:t>
            </a:r>
            <a:r>
              <a:rPr b="1" dirty="0"/>
              <a:t>void</a:t>
            </a:r>
            <a:r>
              <a:rPr dirty="0"/>
              <a:t> destroy()  </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xfrm>
            <a:off x="304800" y="274638"/>
            <a:ext cx="8382000" cy="1143000"/>
          </a:xfrm>
        </p:spPr>
        <p:txBody>
          <a:bodyPr vert="horz" wrap="square" lIns="91440" tIns="45720" rIns="91440" bIns="91440" anchor="b" anchorCtr="0"/>
          <a:p>
            <a:r>
              <a:rPr dirty="0"/>
              <a:t>GET and POST</a:t>
            </a:r>
            <a:br>
              <a:rPr dirty="0"/>
            </a:br>
            <a:endParaRPr dirty="0"/>
          </a:p>
        </p:txBody>
      </p:sp>
      <p:sp>
        <p:nvSpPr>
          <p:cNvPr id="28675" name="Content Placeholder 2"/>
          <p:cNvSpPr>
            <a:spLocks noGrp="1"/>
          </p:cNvSpPr>
          <p:nvPr>
            <p:ph sz="quarter" idx="1"/>
          </p:nvPr>
        </p:nvSpPr>
        <p:spPr>
          <a:xfrm>
            <a:off x="228600" y="1447800"/>
            <a:ext cx="8915400" cy="4876800"/>
          </a:xfrm>
        </p:spPr>
        <p:txBody>
          <a:bodyPr vert="horz" wrap="square" lIns="91440" tIns="45720" rIns="91440" bIns="45720" anchor="t" anchorCtr="0"/>
          <a:p>
            <a:pPr>
              <a:buClr>
                <a:schemeClr val="accent1"/>
              </a:buClr>
              <a:buSzPct val="85000"/>
              <a:buFont typeface="Wingdings 2" panose="05020102010507070707" pitchFamily="18" charset="2"/>
              <a:buNone/>
            </a:pPr>
            <a:r>
              <a:rPr dirty="0"/>
              <a:t>Two common methods for the request-response between a server and client are:</a:t>
            </a:r>
            <a:endParaRPr dirty="0"/>
          </a:p>
          <a:p>
            <a:pPr>
              <a:buClr>
                <a:schemeClr val="accent1"/>
              </a:buClr>
              <a:buSzPct val="85000"/>
              <a:buFont typeface="Wingdings 2" panose="05020102010507070707" pitchFamily="18" charset="2"/>
              <a:buNone/>
            </a:pPr>
            <a:endParaRPr dirty="0"/>
          </a:p>
          <a:p>
            <a:pPr>
              <a:buClr>
                <a:schemeClr val="accent1"/>
              </a:buClr>
              <a:buSzPct val="85000"/>
              <a:buFont typeface="Wingdings 2" panose="05020102010507070707" pitchFamily="18" charset="2"/>
            </a:pPr>
            <a:r>
              <a:rPr b="1" dirty="0"/>
              <a:t>GET</a:t>
            </a:r>
            <a:r>
              <a:rPr dirty="0"/>
              <a:t>- It </a:t>
            </a:r>
            <a:r>
              <a:rPr b="1" dirty="0"/>
              <a:t>requests the data</a:t>
            </a:r>
            <a:r>
              <a:rPr dirty="0"/>
              <a:t> from a specified resource</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b="1" dirty="0"/>
              <a:t>POST</a:t>
            </a:r>
            <a:r>
              <a:rPr dirty="0"/>
              <a:t>- It </a:t>
            </a:r>
            <a:r>
              <a:rPr b="1" dirty="0"/>
              <a:t>submits the processed data</a:t>
            </a:r>
            <a:r>
              <a:rPr dirty="0"/>
              <a:t> to a specified resource</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a:xfrm>
            <a:off x="304800" y="0"/>
            <a:ext cx="8382000" cy="914400"/>
          </a:xfrm>
        </p:spPr>
        <p:txBody>
          <a:bodyPr vert="horz" wrap="square" lIns="91440" tIns="45720" rIns="91440" bIns="91440" anchor="b" anchorCtr="0"/>
          <a:p>
            <a:r>
              <a:rPr b="1" dirty="0"/>
              <a:t>FORM GET AND POST ACTIONS</a:t>
            </a:r>
            <a:endParaRPr b="1" dirty="0"/>
          </a:p>
        </p:txBody>
      </p:sp>
      <p:sp>
        <p:nvSpPr>
          <p:cNvPr id="29699" name="Content Placeholder 2"/>
          <p:cNvSpPr>
            <a:spLocks noGrp="1"/>
          </p:cNvSpPr>
          <p:nvPr>
            <p:ph sz="quarter" idx="1"/>
          </p:nvPr>
        </p:nvSpPr>
        <p:spPr>
          <a:xfrm>
            <a:off x="0" y="762000"/>
            <a:ext cx="9144000" cy="58674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GET method type and doGet() method</a:t>
            </a:r>
            <a:endParaRPr b="1" dirty="0"/>
          </a:p>
          <a:p>
            <a:pPr algn="just">
              <a:buClr>
                <a:schemeClr val="accent1"/>
              </a:buClr>
              <a:buSzPct val="85000"/>
              <a:buFont typeface="Wingdings 2" panose="05020102010507070707" pitchFamily="18" charset="2"/>
            </a:pPr>
            <a:r>
              <a:rPr sz="2400" dirty="0"/>
              <a:t>The </a:t>
            </a:r>
            <a:r>
              <a:rPr sz="2400" b="1" dirty="0"/>
              <a:t>doGet() method</a:t>
            </a:r>
            <a:r>
              <a:rPr sz="2400" dirty="0"/>
              <a:t> in servlets is used to process the </a:t>
            </a:r>
            <a:r>
              <a:rPr sz="2400" b="1" dirty="0"/>
              <a:t>HTTP GET requests. </a:t>
            </a:r>
            <a:r>
              <a:rPr sz="2400" dirty="0"/>
              <a:t>So, basically, the </a:t>
            </a:r>
            <a:r>
              <a:rPr sz="2400" b="1" dirty="0"/>
              <a:t>HTTP GET method</a:t>
            </a:r>
            <a:r>
              <a:rPr sz="2400" dirty="0"/>
              <a:t> should be </a:t>
            </a:r>
            <a:r>
              <a:rPr sz="2400" b="1" dirty="0"/>
              <a:t>used to get the data from the server to the browser.</a:t>
            </a:r>
            <a:r>
              <a:rPr sz="2400" dirty="0"/>
              <a:t> Although in some requests, </a:t>
            </a:r>
            <a:r>
              <a:rPr sz="2400" b="1" dirty="0"/>
              <a:t>the GET method is used to send data from the browser to the server also. </a:t>
            </a:r>
            <a:endParaRPr sz="2400" b="1" dirty="0"/>
          </a:p>
          <a:p>
            <a:pPr algn="just">
              <a:buClr>
                <a:schemeClr val="accent1"/>
              </a:buClr>
              <a:buSzPct val="85000"/>
              <a:buFont typeface="Wingdings 2" panose="05020102010507070707" pitchFamily="18" charset="2"/>
            </a:pPr>
            <a:endParaRPr sz="2400" dirty="0"/>
          </a:p>
          <a:p>
            <a:pPr>
              <a:buClr>
                <a:schemeClr val="accent1"/>
              </a:buClr>
              <a:buSzPct val="85000"/>
              <a:buFont typeface="Wingdings 2" panose="05020102010507070707" pitchFamily="18" charset="2"/>
            </a:pPr>
            <a:r>
              <a:rPr sz="2400" dirty="0"/>
              <a:t>The data that is being submitted to the server will be visible in the URL using query parameters like this </a:t>
            </a:r>
            <a:r>
              <a:rPr sz="2400" b="1" dirty="0"/>
              <a:t>“</a:t>
            </a:r>
            <a:r>
              <a:rPr sz="2400" b="1" i="1" dirty="0"/>
              <a:t>http://localhost:8080/HelloServlet/hello?myParam=myValue</a:t>
            </a:r>
            <a:r>
              <a:rPr sz="2400" b="1" dirty="0"/>
              <a:t>”.</a:t>
            </a:r>
            <a:endParaRPr sz="2400" b="1" dirty="0"/>
          </a:p>
          <a:p>
            <a:pPr algn="just">
              <a:buClr>
                <a:schemeClr val="accent1"/>
              </a:buClr>
              <a:buSzPct val="85000"/>
              <a:buFont typeface="Wingdings 2" panose="05020102010507070707" pitchFamily="18" charset="2"/>
            </a:pPr>
            <a:endParaRPr sz="2400" b="1" dirty="0"/>
          </a:p>
          <a:p>
            <a:pPr algn="just">
              <a:buClr>
                <a:schemeClr val="accent1"/>
              </a:buClr>
              <a:buSzPct val="85000"/>
              <a:buFont typeface="Wingdings 2" panose="05020102010507070707" pitchFamily="18" charset="2"/>
            </a:pPr>
            <a:r>
              <a:rPr sz="2400" dirty="0"/>
              <a:t>So, if you are sending any sensitive information like passwords, you should not use the GET method as the data entered can be clearly visible in the browser URL.</a:t>
            </a:r>
            <a:endParaRPr sz="2400" dirty="0"/>
          </a:p>
          <a:p>
            <a:pPr>
              <a:buClr>
                <a:schemeClr val="accent1"/>
              </a:buClr>
              <a:buSzPct val="85000"/>
              <a:buFont typeface="Wingdings 2" panose="05020102010507070707" pitchFamily="18" charset="2"/>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a:xfrm>
            <a:off x="381000" y="0"/>
            <a:ext cx="8305800" cy="762000"/>
          </a:xfrm>
        </p:spPr>
        <p:txBody>
          <a:bodyPr vert="horz" wrap="square" lIns="91440" tIns="45720" rIns="91440" bIns="91440" anchor="b" anchorCtr="0"/>
          <a:p>
            <a:r>
              <a:rPr b="1" dirty="0"/>
              <a:t>FORM GET AND POST ACTIONS</a:t>
            </a:r>
            <a:endParaRPr dirty="0"/>
          </a:p>
        </p:txBody>
      </p:sp>
      <p:sp>
        <p:nvSpPr>
          <p:cNvPr id="30723" name="Content Placeholder 2"/>
          <p:cNvSpPr>
            <a:spLocks noGrp="1"/>
          </p:cNvSpPr>
          <p:nvPr>
            <p:ph sz="quarter" idx="1"/>
          </p:nvPr>
        </p:nvSpPr>
        <p:spPr>
          <a:xfrm>
            <a:off x="304800" y="914400"/>
            <a:ext cx="8610600" cy="56388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POST method type and doPost() method</a:t>
            </a:r>
            <a:endParaRPr b="1" dirty="0"/>
          </a:p>
          <a:p>
            <a:pPr>
              <a:buClr>
                <a:schemeClr val="accent1"/>
              </a:buClr>
              <a:buSzPct val="85000"/>
              <a:buFont typeface="Wingdings 2" panose="05020102010507070707" pitchFamily="18" charset="2"/>
            </a:pPr>
            <a:r>
              <a:rPr dirty="0"/>
              <a:t>The doPost() method in servlets is </a:t>
            </a:r>
            <a:r>
              <a:rPr b="1" dirty="0"/>
              <a:t>used to process the HTTP POST requests. </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It is used to </a:t>
            </a:r>
            <a:r>
              <a:rPr b="1" dirty="0"/>
              <a:t>submit the data from the browser to the server for processing. </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The data submitted with </a:t>
            </a:r>
            <a:r>
              <a:rPr b="1" dirty="0"/>
              <a:t>POST method </a:t>
            </a:r>
            <a:r>
              <a:rPr dirty="0"/>
              <a:t>type is sent in the message body so</a:t>
            </a:r>
            <a:r>
              <a:rPr b="1" dirty="0"/>
              <a:t> it is secure</a:t>
            </a:r>
            <a:r>
              <a:rPr dirty="0"/>
              <a:t> and cannot be seen in the URL. </a:t>
            </a:r>
            <a:endParaRPr dirty="0"/>
          </a:p>
          <a:p>
            <a:pPr>
              <a:buClr>
                <a:schemeClr val="accent1"/>
              </a:buClr>
              <a:buSzPct val="85000"/>
              <a:buFont typeface="Wingdings 2" panose="05020102010507070707" pitchFamily="18" charset="2"/>
              <a:buNone/>
            </a:pPr>
            <a:r>
              <a:rPr dirty="0"/>
              <a:t> </a:t>
            </a:r>
            <a:endParaRPr dirty="0"/>
          </a:p>
          <a:p>
            <a:pPr>
              <a:buClr>
                <a:schemeClr val="accent1"/>
              </a:buClr>
              <a:buSzPct val="85000"/>
              <a:buFont typeface="Wingdings 2" panose="05020102010507070707" pitchFamily="18" charset="2"/>
            </a:pPr>
            <a:r>
              <a:rPr dirty="0"/>
              <a:t>HTML fields data such as </a:t>
            </a:r>
            <a:r>
              <a:rPr b="1" i="1" dirty="0"/>
              <a:t>Text field, Checkbox, Radio button, Dropdown</a:t>
            </a:r>
            <a:r>
              <a:rPr b="1" dirty="0"/>
              <a:t>, etc.</a:t>
            </a:r>
            <a:r>
              <a:rPr dirty="0"/>
              <a:t>, values in the servlet.</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a:xfrm>
            <a:off x="228600" y="0"/>
            <a:ext cx="8458200" cy="1371600"/>
          </a:xfrm>
        </p:spPr>
        <p:txBody>
          <a:bodyPr vert="horz" wrap="square" lIns="91440" tIns="45720" rIns="91440" bIns="91440" anchor="b" anchorCtr="0"/>
          <a:p>
            <a:r>
              <a:rPr dirty="0"/>
              <a:t>Get vs. Post</a:t>
            </a:r>
            <a:br>
              <a:rPr dirty="0"/>
            </a:br>
            <a:endParaRPr dirty="0"/>
          </a:p>
        </p:txBody>
      </p:sp>
      <p:graphicFrame>
        <p:nvGraphicFramePr>
          <p:cNvPr id="4" name="Content Placeholder 3"/>
          <p:cNvGraphicFramePr>
            <a:graphicFrameLocks noGrp="1"/>
          </p:cNvGraphicFramePr>
          <p:nvPr>
            <p:ph sz="quarter" idx="1"/>
          </p:nvPr>
        </p:nvGraphicFramePr>
        <p:xfrm>
          <a:off x="228600" y="1066800"/>
          <a:ext cx="8915400" cy="5486400"/>
        </p:xfrm>
        <a:graphic>
          <a:graphicData uri="http://schemas.openxmlformats.org/drawingml/2006/table">
            <a:tbl>
              <a:tblPr firstRow="1" bandRow="1">
                <a:tableStyleId>{5C22544A-7EE6-4342-B048-85BDC9FD1C3A}</a:tableStyleId>
              </a:tblPr>
              <a:tblGrid>
                <a:gridCol w="4457700"/>
                <a:gridCol w="4457700"/>
              </a:tblGrid>
              <a:tr h="540451">
                <a:tc>
                  <a:txBody>
                    <a:bodyPr/>
                    <a:lstStyle/>
                    <a:p>
                      <a:pPr algn="l" fontAlgn="t"/>
                      <a:r>
                        <a:rPr lang="en-US" dirty="0">
                          <a:solidFill>
                            <a:srgbClr val="000000"/>
                          </a:solidFill>
                          <a:latin typeface="Times New Roman" panose="02020603050405020304"/>
                        </a:rPr>
                        <a:t>GET</a:t>
                      </a:r>
                      <a:endParaRPr lang="en-US" dirty="0">
                        <a:solidFill>
                          <a:srgbClr val="000000"/>
                        </a:solidFill>
                        <a:latin typeface="Times New Roman" panose="02020603050405020304"/>
                      </a:endParaRPr>
                    </a:p>
                  </a:txBody>
                  <a:tcPr marL="114300" marR="114300" marT="114300" marB="114300"/>
                </a:tc>
                <a:tc>
                  <a:txBody>
                    <a:bodyPr/>
                    <a:lstStyle/>
                    <a:p>
                      <a:pPr algn="l" fontAlgn="t"/>
                      <a:r>
                        <a:rPr lang="en-US">
                          <a:solidFill>
                            <a:srgbClr val="000000"/>
                          </a:solidFill>
                          <a:latin typeface="Times New Roman" panose="02020603050405020304"/>
                        </a:rPr>
                        <a:t>POST</a:t>
                      </a:r>
                      <a:endParaRPr lang="en-US">
                        <a:solidFill>
                          <a:srgbClr val="000000"/>
                        </a:solidFill>
                        <a:latin typeface="Times New Roman" panose="02020603050405020304"/>
                      </a:endParaRPr>
                    </a:p>
                  </a:txBody>
                  <a:tcPr marL="114300" marR="114300" marT="114300" marB="114300"/>
                </a:tc>
              </a:tr>
              <a:tr h="1048148">
                <a:tc>
                  <a:txBody>
                    <a:bodyPr/>
                    <a:lstStyle/>
                    <a:p>
                      <a:pPr algn="just" fontAlgn="t"/>
                      <a:r>
                        <a:rPr lang="en-US" sz="2000" dirty="0">
                          <a:solidFill>
                            <a:srgbClr val="333333"/>
                          </a:solidFill>
                          <a:latin typeface="Times New Roman" panose="02020603050405020304" charset="0"/>
                          <a:cs typeface="Times New Roman" panose="02020603050405020304" charset="0"/>
                        </a:rPr>
                        <a:t>1) In case of Get request, only </a:t>
                      </a:r>
                      <a:r>
                        <a:rPr lang="en-US" sz="2000" b="1" dirty="0">
                          <a:solidFill>
                            <a:srgbClr val="333333"/>
                          </a:solidFill>
                          <a:latin typeface="Times New Roman" panose="02020603050405020304" charset="0"/>
                          <a:cs typeface="Times New Roman" panose="02020603050405020304" charset="0"/>
                        </a:rPr>
                        <a:t>limited amount of data </a:t>
                      </a:r>
                      <a:r>
                        <a:rPr lang="en-US" sz="2000" dirty="0">
                          <a:solidFill>
                            <a:srgbClr val="333333"/>
                          </a:solidFill>
                          <a:latin typeface="Times New Roman" panose="02020603050405020304" charset="0"/>
                          <a:cs typeface="Times New Roman" panose="02020603050405020304" charset="0"/>
                        </a:rPr>
                        <a:t>can be sent because data is sent in header.</a:t>
                      </a:r>
                      <a:endParaRPr lang="en-US" sz="2000" dirty="0">
                        <a:solidFill>
                          <a:srgbClr val="333333"/>
                        </a:solidFill>
                        <a:latin typeface="Times New Roman" panose="02020603050405020304" charset="0"/>
                        <a:cs typeface="Times New Roman" panose="02020603050405020304" charset="0"/>
                      </a:endParaRPr>
                    </a:p>
                  </a:txBody>
                  <a:tcPr marL="76200" marR="76200" marT="76200" marB="76200"/>
                </a:tc>
                <a:tc>
                  <a:txBody>
                    <a:bodyPr/>
                    <a:lstStyle/>
                    <a:p>
                      <a:pPr algn="just" fontAlgn="t"/>
                      <a:r>
                        <a:rPr lang="en-US" sz="2000">
                          <a:solidFill>
                            <a:srgbClr val="333333"/>
                          </a:solidFill>
                          <a:latin typeface="Times New Roman" panose="02020603050405020304" charset="0"/>
                          <a:cs typeface="Times New Roman" panose="02020603050405020304" charset="0"/>
                        </a:rPr>
                        <a:t>In case of post request, </a:t>
                      </a:r>
                      <a:r>
                        <a:rPr lang="en-US" sz="2000" b="1">
                          <a:solidFill>
                            <a:srgbClr val="333333"/>
                          </a:solidFill>
                          <a:latin typeface="Times New Roman" panose="02020603050405020304" charset="0"/>
                          <a:cs typeface="Times New Roman" panose="02020603050405020304" charset="0"/>
                        </a:rPr>
                        <a:t>large amount of data </a:t>
                      </a:r>
                      <a:r>
                        <a:rPr lang="en-US" sz="2000">
                          <a:solidFill>
                            <a:srgbClr val="333333"/>
                          </a:solidFill>
                          <a:latin typeface="Times New Roman" panose="02020603050405020304" charset="0"/>
                          <a:cs typeface="Times New Roman" panose="02020603050405020304" charset="0"/>
                        </a:rPr>
                        <a:t>can be sent because data is sent in body.</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r>
              <a:tr h="1048148">
                <a:tc>
                  <a:txBody>
                    <a:bodyPr/>
                    <a:lstStyle/>
                    <a:p>
                      <a:pPr algn="just" fontAlgn="t"/>
                      <a:r>
                        <a:rPr lang="en-US" sz="2000">
                          <a:solidFill>
                            <a:srgbClr val="333333"/>
                          </a:solidFill>
                          <a:latin typeface="Times New Roman" panose="02020603050405020304" charset="0"/>
                          <a:cs typeface="Times New Roman" panose="02020603050405020304" charset="0"/>
                        </a:rPr>
                        <a:t>2) Get request is </a:t>
                      </a:r>
                      <a:r>
                        <a:rPr lang="en-US" sz="2000" b="1">
                          <a:solidFill>
                            <a:srgbClr val="333333"/>
                          </a:solidFill>
                          <a:latin typeface="Times New Roman" panose="02020603050405020304" charset="0"/>
                          <a:cs typeface="Times New Roman" panose="02020603050405020304" charset="0"/>
                        </a:rPr>
                        <a:t>not secured </a:t>
                      </a:r>
                      <a:r>
                        <a:rPr lang="en-US" sz="2000">
                          <a:solidFill>
                            <a:srgbClr val="333333"/>
                          </a:solidFill>
                          <a:latin typeface="Times New Roman" panose="02020603050405020304" charset="0"/>
                          <a:cs typeface="Times New Roman" panose="02020603050405020304" charset="0"/>
                        </a:rPr>
                        <a:t>because data is exposed in URL bar.</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c>
                  <a:txBody>
                    <a:bodyPr/>
                    <a:lstStyle/>
                    <a:p>
                      <a:pPr algn="just" fontAlgn="t"/>
                      <a:r>
                        <a:rPr lang="en-US" sz="2000">
                          <a:solidFill>
                            <a:srgbClr val="333333"/>
                          </a:solidFill>
                          <a:latin typeface="Times New Roman" panose="02020603050405020304" charset="0"/>
                          <a:cs typeface="Times New Roman" panose="02020603050405020304" charset="0"/>
                        </a:rPr>
                        <a:t>Post request is </a:t>
                      </a:r>
                      <a:r>
                        <a:rPr lang="en-US" sz="2000" b="1">
                          <a:solidFill>
                            <a:srgbClr val="333333"/>
                          </a:solidFill>
                          <a:latin typeface="Times New Roman" panose="02020603050405020304" charset="0"/>
                          <a:cs typeface="Times New Roman" panose="02020603050405020304" charset="0"/>
                        </a:rPr>
                        <a:t>secured </a:t>
                      </a:r>
                      <a:r>
                        <a:rPr lang="en-US" sz="2000">
                          <a:solidFill>
                            <a:srgbClr val="333333"/>
                          </a:solidFill>
                          <a:latin typeface="Times New Roman" panose="02020603050405020304" charset="0"/>
                          <a:cs typeface="Times New Roman" panose="02020603050405020304" charset="0"/>
                        </a:rPr>
                        <a:t>because data is not exposed in URL bar.</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r>
              <a:tr h="753356">
                <a:tc>
                  <a:txBody>
                    <a:bodyPr/>
                    <a:lstStyle/>
                    <a:p>
                      <a:pPr algn="just" fontAlgn="t"/>
                      <a:r>
                        <a:rPr lang="en-US" sz="2000">
                          <a:solidFill>
                            <a:srgbClr val="333333"/>
                          </a:solidFill>
                          <a:latin typeface="Times New Roman" panose="02020603050405020304" charset="0"/>
                          <a:cs typeface="Times New Roman" panose="02020603050405020304" charset="0"/>
                        </a:rPr>
                        <a:t>3) Get request </a:t>
                      </a:r>
                      <a:r>
                        <a:rPr lang="en-US" sz="2000" b="1">
                          <a:solidFill>
                            <a:srgbClr val="333333"/>
                          </a:solidFill>
                          <a:latin typeface="Times New Roman" panose="02020603050405020304" charset="0"/>
                          <a:cs typeface="Times New Roman" panose="02020603050405020304" charset="0"/>
                        </a:rPr>
                        <a:t>can be bookmarked.</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c>
                  <a:txBody>
                    <a:bodyPr/>
                    <a:lstStyle/>
                    <a:p>
                      <a:pPr algn="just" fontAlgn="t"/>
                      <a:r>
                        <a:rPr lang="en-US" sz="2000">
                          <a:solidFill>
                            <a:srgbClr val="333333"/>
                          </a:solidFill>
                          <a:latin typeface="Times New Roman" panose="02020603050405020304" charset="0"/>
                          <a:cs typeface="Times New Roman" panose="02020603050405020304" charset="0"/>
                        </a:rPr>
                        <a:t>Post request </a:t>
                      </a:r>
                      <a:r>
                        <a:rPr lang="en-US" sz="2000" b="1">
                          <a:solidFill>
                            <a:srgbClr val="333333"/>
                          </a:solidFill>
                          <a:latin typeface="Times New Roman" panose="02020603050405020304" charset="0"/>
                          <a:cs typeface="Times New Roman" panose="02020603050405020304" charset="0"/>
                        </a:rPr>
                        <a:t>cannot be bookmarked.</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r>
              <a:tr h="1342940">
                <a:tc>
                  <a:txBody>
                    <a:bodyPr/>
                    <a:lstStyle/>
                    <a:p>
                      <a:pPr algn="just" fontAlgn="t"/>
                      <a:r>
                        <a:rPr lang="en-US" sz="2000">
                          <a:solidFill>
                            <a:srgbClr val="333333"/>
                          </a:solidFill>
                          <a:latin typeface="Times New Roman" panose="02020603050405020304" charset="0"/>
                          <a:cs typeface="Times New Roman" panose="02020603050405020304" charset="0"/>
                        </a:rPr>
                        <a:t>4) Get request is </a:t>
                      </a:r>
                      <a:r>
                        <a:rPr lang="en-US" sz="2000" b="1">
                          <a:solidFill>
                            <a:srgbClr val="333333"/>
                          </a:solidFill>
                          <a:latin typeface="Times New Roman" panose="02020603050405020304" charset="0"/>
                          <a:cs typeface="Times New Roman" panose="02020603050405020304" charset="0"/>
                        </a:rPr>
                        <a:t>idempotent </a:t>
                      </a:r>
                      <a:r>
                        <a:rPr lang="en-US" sz="2000">
                          <a:solidFill>
                            <a:srgbClr val="333333"/>
                          </a:solidFill>
                          <a:latin typeface="Times New Roman" panose="02020603050405020304" charset="0"/>
                          <a:cs typeface="Times New Roman" panose="02020603050405020304" charset="0"/>
                        </a:rPr>
                        <a:t>. It means second request will be ignored until response of first request is delivered</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c>
                  <a:txBody>
                    <a:bodyPr/>
                    <a:lstStyle/>
                    <a:p>
                      <a:pPr algn="just" fontAlgn="t"/>
                      <a:r>
                        <a:rPr lang="en-US" sz="2000">
                          <a:solidFill>
                            <a:srgbClr val="333333"/>
                          </a:solidFill>
                          <a:latin typeface="Times New Roman" panose="02020603050405020304" charset="0"/>
                          <a:cs typeface="Times New Roman" panose="02020603050405020304" charset="0"/>
                        </a:rPr>
                        <a:t>Post request is </a:t>
                      </a:r>
                      <a:r>
                        <a:rPr lang="en-US" sz="2000" b="1">
                          <a:solidFill>
                            <a:srgbClr val="333333"/>
                          </a:solidFill>
                          <a:latin typeface="Times New Roman" panose="02020603050405020304" charset="0"/>
                          <a:cs typeface="Times New Roman" panose="02020603050405020304" charset="0"/>
                        </a:rPr>
                        <a:t>non-idempotent.</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r>
              <a:tr h="753356">
                <a:tc>
                  <a:txBody>
                    <a:bodyPr/>
                    <a:lstStyle/>
                    <a:p>
                      <a:pPr algn="just" fontAlgn="t"/>
                      <a:r>
                        <a:rPr lang="en-US" sz="2000">
                          <a:solidFill>
                            <a:srgbClr val="333333"/>
                          </a:solidFill>
                          <a:latin typeface="Times New Roman" panose="02020603050405020304" charset="0"/>
                          <a:cs typeface="Times New Roman" panose="02020603050405020304" charset="0"/>
                        </a:rPr>
                        <a:t>5) Get request is </a:t>
                      </a:r>
                      <a:r>
                        <a:rPr lang="en-US" sz="2000" b="1">
                          <a:solidFill>
                            <a:srgbClr val="333333"/>
                          </a:solidFill>
                          <a:latin typeface="Times New Roman" panose="02020603050405020304" charset="0"/>
                          <a:cs typeface="Times New Roman" panose="02020603050405020304" charset="0"/>
                        </a:rPr>
                        <a:t>more efficient </a:t>
                      </a:r>
                      <a:r>
                        <a:rPr lang="en-US" sz="2000">
                          <a:solidFill>
                            <a:srgbClr val="333333"/>
                          </a:solidFill>
                          <a:latin typeface="Times New Roman" panose="02020603050405020304" charset="0"/>
                          <a:cs typeface="Times New Roman" panose="02020603050405020304" charset="0"/>
                        </a:rPr>
                        <a:t>and used more than Post.</a:t>
                      </a:r>
                      <a:endParaRPr lang="en-US" sz="2000">
                        <a:solidFill>
                          <a:srgbClr val="333333"/>
                        </a:solidFill>
                        <a:latin typeface="Times New Roman" panose="02020603050405020304" charset="0"/>
                        <a:cs typeface="Times New Roman" panose="02020603050405020304" charset="0"/>
                      </a:endParaRPr>
                    </a:p>
                  </a:txBody>
                  <a:tcPr marL="76200" marR="76200" marT="76200" marB="76200"/>
                </a:tc>
                <a:tc>
                  <a:txBody>
                    <a:bodyPr/>
                    <a:lstStyle/>
                    <a:p>
                      <a:pPr algn="just" fontAlgn="t"/>
                      <a:r>
                        <a:rPr lang="en-US" sz="2000" dirty="0">
                          <a:solidFill>
                            <a:srgbClr val="333333"/>
                          </a:solidFill>
                          <a:latin typeface="Times New Roman" panose="02020603050405020304" charset="0"/>
                          <a:cs typeface="Times New Roman" panose="02020603050405020304" charset="0"/>
                        </a:rPr>
                        <a:t>Post request is </a:t>
                      </a:r>
                      <a:r>
                        <a:rPr lang="en-US" sz="2000" b="1" dirty="0">
                          <a:solidFill>
                            <a:srgbClr val="333333"/>
                          </a:solidFill>
                          <a:latin typeface="Times New Roman" panose="02020603050405020304" charset="0"/>
                          <a:cs typeface="Times New Roman" panose="02020603050405020304" charset="0"/>
                        </a:rPr>
                        <a:t>less efficient </a:t>
                      </a:r>
                      <a:r>
                        <a:rPr lang="en-US" sz="2000" dirty="0">
                          <a:solidFill>
                            <a:srgbClr val="333333"/>
                          </a:solidFill>
                          <a:latin typeface="Times New Roman" panose="02020603050405020304" charset="0"/>
                          <a:cs typeface="Times New Roman" panose="02020603050405020304" charset="0"/>
                        </a:rPr>
                        <a:t>and used less than get.</a:t>
                      </a:r>
                      <a:endParaRPr lang="en-US" sz="2000" dirty="0">
                        <a:solidFill>
                          <a:srgbClr val="333333"/>
                        </a:solidFill>
                        <a:latin typeface="Times New Roman" panose="02020603050405020304" charset="0"/>
                        <a:cs typeface="Times New Roman" panose="02020603050405020304" charset="0"/>
                      </a:endParaRPr>
                    </a:p>
                  </a:txBody>
                  <a:tcPr marL="76200" marR="76200" marT="76200" marB="7620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p:txBody>
          <a:bodyPr vert="horz" wrap="square" lIns="91440" tIns="45720" rIns="91440" bIns="91440" anchor="b" anchorCtr="0"/>
          <a:p>
            <a:r>
              <a:rPr b="1" dirty="0"/>
              <a:t>Session Tracking in Servlets</a:t>
            </a:r>
            <a:br>
              <a:rPr dirty="0"/>
            </a:br>
            <a:endParaRPr dirty="0"/>
          </a:p>
        </p:txBody>
      </p:sp>
      <p:sp>
        <p:nvSpPr>
          <p:cNvPr id="32771" name="Content Placeholder 2"/>
          <p:cNvSpPr>
            <a:spLocks noGrp="1"/>
          </p:cNvSpPr>
          <p:nvPr>
            <p:ph sz="quarter" idx="1"/>
          </p:nvPr>
        </p:nvSpPr>
        <p:spPr>
          <a:xfrm>
            <a:off x="0" y="1066800"/>
            <a:ext cx="9144000" cy="5791200"/>
          </a:xfrm>
        </p:spPr>
        <p:txBody>
          <a:bodyPr vert="horz" wrap="square" lIns="91440" tIns="45720" rIns="91440" bIns="45720" anchor="t" anchorCtr="0"/>
          <a:p>
            <a:pPr>
              <a:buClr>
                <a:schemeClr val="accent1"/>
              </a:buClr>
              <a:buSzPct val="85000"/>
              <a:buFont typeface="Wingdings 2" panose="05020102010507070707" pitchFamily="18" charset="2"/>
            </a:pPr>
            <a:r>
              <a:rPr b="1" dirty="0"/>
              <a:t>Session</a:t>
            </a:r>
            <a:r>
              <a:rPr dirty="0"/>
              <a:t> simply means a </a:t>
            </a:r>
            <a:r>
              <a:rPr b="1" dirty="0"/>
              <a:t>particular interval of time.</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b="1" dirty="0"/>
              <a:t>Session Tracking</a:t>
            </a:r>
            <a:r>
              <a:rPr dirty="0"/>
              <a:t> is a way to maintain state (data) of an user. It is also known as </a:t>
            </a:r>
            <a:r>
              <a:rPr b="1" dirty="0"/>
              <a:t>session management</a:t>
            </a:r>
            <a:r>
              <a:rPr dirty="0"/>
              <a:t> in servlet.</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Http protocol is a </a:t>
            </a:r>
            <a:r>
              <a:rPr b="1" dirty="0"/>
              <a:t>stateless</a:t>
            </a:r>
            <a:r>
              <a:rPr dirty="0"/>
              <a:t> so we need to maintain state using </a:t>
            </a:r>
            <a:r>
              <a:rPr b="1" dirty="0"/>
              <a:t>session tracking techniques.</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Each time user requests to the server, server treats the request as the new request.</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 So we need to maintain the state of an user to recognize to particular user.</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a:xfrm>
            <a:off x="0" y="274638"/>
            <a:ext cx="8839200" cy="792162"/>
          </a:xfrm>
        </p:spPr>
        <p:txBody>
          <a:bodyPr vert="horz" wrap="square" lIns="91440" tIns="45720" rIns="91440" bIns="91440" anchor="b" anchorCtr="0"/>
          <a:p>
            <a:r>
              <a:rPr b="1" dirty="0"/>
              <a:t>Session Tracking in Servlets</a:t>
            </a:r>
            <a:endParaRPr dirty="0"/>
          </a:p>
        </p:txBody>
      </p:sp>
      <p:pic>
        <p:nvPicPr>
          <p:cNvPr id="33795" name="Picture 2"/>
          <p:cNvPicPr>
            <a:picLocks noGrp="1" noChangeAspect="1"/>
          </p:cNvPicPr>
          <p:nvPr>
            <p:ph sz="quarter" idx="1"/>
          </p:nvPr>
        </p:nvPicPr>
        <p:blipFill>
          <a:blip r:embed="rId1"/>
          <a:srcRect/>
          <a:stretch>
            <a:fillRect/>
          </a:stretch>
        </p:blipFill>
        <p:spPr>
          <a:xfrm>
            <a:off x="304800" y="1143000"/>
            <a:ext cx="8382000" cy="5105400"/>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1"/>
          <p:cNvSpPr>
            <a:spLocks noGrp="1"/>
          </p:cNvSpPr>
          <p:nvPr>
            <p:ph type="title"/>
          </p:nvPr>
        </p:nvSpPr>
        <p:spPr>
          <a:xfrm>
            <a:off x="228600" y="274638"/>
            <a:ext cx="8458200" cy="1325562"/>
          </a:xfrm>
        </p:spPr>
        <p:txBody>
          <a:bodyPr vert="horz" wrap="square" lIns="91440" tIns="45720" rIns="91440" bIns="91440" anchor="b" anchorCtr="0"/>
          <a:p>
            <a:r>
              <a:rPr b="1" dirty="0"/>
              <a:t>Session Tracking Techniques</a:t>
            </a:r>
            <a:br>
              <a:rPr dirty="0"/>
            </a:br>
            <a:endParaRPr dirty="0"/>
          </a:p>
        </p:txBody>
      </p:sp>
      <p:sp>
        <p:nvSpPr>
          <p:cNvPr id="3" name="Content Placeholder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There are four techniques used in Session tracking:</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Hidden Form Field</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URL Rewriting</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HttpSession</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Cookies</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1"/>
          <p:cNvSpPr>
            <a:spLocks noGrp="1"/>
          </p:cNvSpPr>
          <p:nvPr>
            <p:ph type="title"/>
          </p:nvPr>
        </p:nvSpPr>
        <p:spPr>
          <a:xfrm>
            <a:off x="381000" y="274638"/>
            <a:ext cx="8305800" cy="1143000"/>
          </a:xfrm>
        </p:spPr>
        <p:txBody>
          <a:bodyPr vert="horz" wrap="square" lIns="91440" tIns="45720" rIns="91440" bIns="91440" anchor="b" anchorCtr="0"/>
          <a:p>
            <a:r>
              <a:rPr sz="3600" b="1" dirty="0"/>
              <a:t>1) Hidden Form Field</a:t>
            </a:r>
            <a:br>
              <a:rPr dirty="0"/>
            </a:br>
            <a:endParaRPr dirty="0"/>
          </a:p>
        </p:txBody>
      </p:sp>
      <p:sp>
        <p:nvSpPr>
          <p:cNvPr id="35843" name="Content Placeholder 2"/>
          <p:cNvSpPr>
            <a:spLocks noGrp="1"/>
          </p:cNvSpPr>
          <p:nvPr>
            <p:ph sz="quarter" idx="1"/>
          </p:nvPr>
        </p:nvSpPr>
        <p:spPr>
          <a:xfrm>
            <a:off x="228600" y="838200"/>
            <a:ext cx="8686800" cy="5791200"/>
          </a:xfrm>
        </p:spPr>
        <p:txBody>
          <a:bodyPr vert="horz" wrap="square" lIns="91440" tIns="45720" rIns="91440" bIns="45720" anchor="t" anchorCtr="0"/>
          <a:p>
            <a:pPr>
              <a:buClr>
                <a:schemeClr val="accent1"/>
              </a:buClr>
              <a:buSzPct val="85000"/>
              <a:buFont typeface="Wingdings 2" panose="05020102010507070707" pitchFamily="18" charset="2"/>
              <a:buNone/>
            </a:pPr>
            <a:r>
              <a:rPr dirty="0">
                <a:hlinkClick r:id="rId1"/>
              </a:rPr>
              <a:t>Hidden Form Field</a:t>
            </a:r>
            <a:endParaRPr dirty="0"/>
          </a:p>
          <a:p>
            <a:pPr algn="just">
              <a:buClr>
                <a:schemeClr val="accent1"/>
              </a:buClr>
              <a:buSzPct val="85000"/>
              <a:buFont typeface="Wingdings 2" panose="05020102010507070707" pitchFamily="18" charset="2"/>
            </a:pPr>
            <a:r>
              <a:rPr dirty="0"/>
              <a:t>In case of Hidden Form Field </a:t>
            </a:r>
            <a:r>
              <a:rPr b="1" dirty="0"/>
              <a:t>a hidden (invisible) textfield</a:t>
            </a:r>
            <a:r>
              <a:rPr dirty="0"/>
              <a:t> is </a:t>
            </a:r>
            <a:r>
              <a:rPr b="1" dirty="0"/>
              <a:t>used for maintaining the state of an user.</a:t>
            </a:r>
            <a:endParaRPr b="1" dirty="0"/>
          </a:p>
          <a:p>
            <a:pPr algn="just">
              <a:buClr>
                <a:schemeClr val="accent1"/>
              </a:buClr>
              <a:buSzPct val="85000"/>
              <a:buFont typeface="Wingdings 2" panose="05020102010507070707" pitchFamily="18" charset="2"/>
            </a:pPr>
            <a:r>
              <a:rPr dirty="0"/>
              <a:t>In such case, </a:t>
            </a:r>
            <a:r>
              <a:rPr b="1" dirty="0"/>
              <a:t>we store the information in the hidden field and get it from another servlet.</a:t>
            </a:r>
            <a:endParaRPr b="1" dirty="0"/>
          </a:p>
          <a:p>
            <a:pPr algn="just">
              <a:buClr>
                <a:schemeClr val="accent1"/>
              </a:buClr>
              <a:buSzPct val="85000"/>
              <a:buFont typeface="Wingdings 2" panose="05020102010507070707" pitchFamily="18" charset="2"/>
            </a:pPr>
            <a:r>
              <a:rPr dirty="0"/>
              <a:t> This approach is better if we have to submit form in all the pages and we don't want to depend on the browser.</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Let's see </a:t>
            </a:r>
            <a:r>
              <a:rPr b="1" dirty="0"/>
              <a:t>the code to store value in hidden field.</a:t>
            </a:r>
            <a:endParaRPr b="1" dirty="0"/>
          </a:p>
          <a:p>
            <a:pPr algn="just">
              <a:buClr>
                <a:schemeClr val="accent1"/>
              </a:buClr>
              <a:buSzPct val="85000"/>
              <a:buFont typeface="Wingdings 2" panose="05020102010507070707" pitchFamily="18" charset="2"/>
            </a:pPr>
            <a:endParaRPr b="1" dirty="0"/>
          </a:p>
          <a:p>
            <a:pPr algn="just">
              <a:buClr>
                <a:schemeClr val="accent1"/>
              </a:buClr>
              <a:buSzPct val="85000"/>
              <a:buFont typeface="Wingdings 2" panose="05020102010507070707" pitchFamily="18" charset="2"/>
              <a:buNone/>
            </a:pPr>
            <a:r>
              <a:rPr sz="2400" b="1" dirty="0"/>
              <a:t>&lt;input type="hidden" name="uname" value="Vimal Jaiswal"&gt; </a:t>
            </a:r>
            <a:r>
              <a:rPr b="1" dirty="0"/>
              <a:t> </a:t>
            </a:r>
            <a:r>
              <a:rPr dirty="0"/>
              <a:t>Here, </a:t>
            </a:r>
            <a:r>
              <a:rPr b="1" dirty="0"/>
              <a:t>uname</a:t>
            </a:r>
            <a:r>
              <a:rPr dirty="0"/>
              <a:t> is the </a:t>
            </a:r>
            <a:r>
              <a:rPr b="1" dirty="0"/>
              <a:t>hidden field name </a:t>
            </a:r>
            <a:r>
              <a:rPr dirty="0"/>
              <a:t>and </a:t>
            </a:r>
            <a:r>
              <a:rPr b="1" dirty="0"/>
              <a:t>Vimal Jaiswal </a:t>
            </a:r>
            <a:r>
              <a:rPr dirty="0"/>
              <a:t>is the </a:t>
            </a:r>
            <a:r>
              <a:rPr b="1" dirty="0"/>
              <a:t>hidden field value.</a:t>
            </a:r>
            <a:endParaRPr b="1" dirty="0"/>
          </a:p>
          <a:p>
            <a:pPr>
              <a:buClr>
                <a:schemeClr val="accent1"/>
              </a:buClr>
              <a:buSzPct val="85000"/>
              <a:buFont typeface="Wingdings 2" panose="05020102010507070707" pitchFamily="18" charset="2"/>
            </a:pP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Content Placeholder 2"/>
          <p:cNvSpPr>
            <a:spLocks noGrp="1"/>
          </p:cNvSpPr>
          <p:nvPr>
            <p:ph sz="quarter" idx="1"/>
          </p:nvPr>
        </p:nvSpPr>
        <p:spPr>
          <a:xfrm>
            <a:off x="304800" y="457200"/>
            <a:ext cx="8839200" cy="6400800"/>
          </a:xfrm>
        </p:spPr>
        <p:txBody>
          <a:bodyPr vert="horz" wrap="square" lIns="91440" tIns="45720" rIns="91440" bIns="45720" anchor="t" anchorCtr="0"/>
          <a:p>
            <a:pPr>
              <a:buClr>
                <a:schemeClr val="accent1"/>
              </a:buClr>
              <a:buSzPct val="85000"/>
              <a:buFont typeface="Wingdings 2" panose="05020102010507070707" pitchFamily="18" charset="2"/>
            </a:pPr>
            <a:r>
              <a:rPr dirty="0"/>
              <a:t>Real application of hidden form field</a:t>
            </a:r>
            <a:endParaRPr dirty="0"/>
          </a:p>
          <a:p>
            <a:pPr>
              <a:buClr>
                <a:schemeClr val="accent1"/>
              </a:buClr>
              <a:buSzPct val="85000"/>
              <a:buFont typeface="Wingdings 2" panose="05020102010507070707" pitchFamily="18" charset="2"/>
            </a:pPr>
            <a:r>
              <a:rPr dirty="0"/>
              <a:t>It is widely used in comment form of a website.</a:t>
            </a:r>
            <a:endParaRPr dirty="0"/>
          </a:p>
          <a:p>
            <a:pPr>
              <a:buClr>
                <a:schemeClr val="accent1"/>
              </a:buClr>
              <a:buSzPct val="85000"/>
              <a:buFont typeface="Wingdings 2" panose="05020102010507070707" pitchFamily="18" charset="2"/>
            </a:pPr>
            <a:r>
              <a:rPr dirty="0"/>
              <a:t> In such case, </a:t>
            </a:r>
            <a:r>
              <a:rPr b="1" dirty="0"/>
              <a:t>we store page id or page name in the hidden field so that each page can be uniquely identified.</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Advantage of Hidden Form Field</a:t>
            </a:r>
            <a:endParaRPr b="1" dirty="0"/>
          </a:p>
          <a:p>
            <a:pPr>
              <a:buClr>
                <a:schemeClr val="accent1"/>
              </a:buClr>
              <a:buSzPct val="85000"/>
              <a:buFont typeface="Wingdings 2" panose="05020102010507070707" pitchFamily="18" charset="2"/>
            </a:pPr>
            <a:r>
              <a:rPr dirty="0"/>
              <a:t>It will always work </a:t>
            </a:r>
            <a:r>
              <a:rPr b="1" dirty="0"/>
              <a:t>whether cookie is disabled or not.</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Disadvantage of Hidden Form Field:</a:t>
            </a:r>
            <a:endParaRPr b="1" dirty="0"/>
          </a:p>
          <a:p>
            <a:pPr>
              <a:buClr>
                <a:schemeClr val="accent1"/>
              </a:buClr>
              <a:buSzPct val="85000"/>
              <a:buFont typeface="Wingdings 2" panose="05020102010507070707" pitchFamily="18" charset="2"/>
            </a:pPr>
            <a:r>
              <a:rPr dirty="0"/>
              <a:t>It is maintained at server side.</a:t>
            </a:r>
            <a:endParaRPr dirty="0"/>
          </a:p>
          <a:p>
            <a:pPr>
              <a:buClr>
                <a:schemeClr val="accent1"/>
              </a:buClr>
              <a:buSzPct val="85000"/>
              <a:buFont typeface="Wingdings 2" panose="05020102010507070707" pitchFamily="18" charset="2"/>
            </a:pPr>
            <a:r>
              <a:rPr dirty="0"/>
              <a:t>Extra form submission is required on each pages.</a:t>
            </a:r>
            <a:endParaRPr dirty="0"/>
          </a:p>
          <a:p>
            <a:pPr>
              <a:buClr>
                <a:schemeClr val="accent1"/>
              </a:buClr>
              <a:buSzPct val="85000"/>
              <a:buFont typeface="Wingdings 2" panose="05020102010507070707" pitchFamily="18" charset="2"/>
            </a:pPr>
            <a:r>
              <a:rPr dirty="0"/>
              <a:t>Only textual information can be used.</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1"/>
          <p:cNvSpPr>
            <a:spLocks noGrp="1"/>
          </p:cNvSpPr>
          <p:nvPr>
            <p:ph type="title"/>
          </p:nvPr>
        </p:nvSpPr>
        <p:spPr>
          <a:xfrm>
            <a:off x="228600" y="274638"/>
            <a:ext cx="8458200" cy="1096962"/>
          </a:xfrm>
        </p:spPr>
        <p:txBody>
          <a:bodyPr vert="horz" wrap="square" lIns="91440" tIns="45720" rIns="91440" bIns="91440" anchor="b" anchorCtr="0"/>
          <a:p>
            <a:r>
              <a:rPr sz="3600" b="1" dirty="0"/>
              <a:t>Example of using Hidden Form Field</a:t>
            </a:r>
            <a:br>
              <a:rPr dirty="0"/>
            </a:br>
            <a:endParaRPr dirty="0"/>
          </a:p>
        </p:txBody>
      </p:sp>
      <p:pic>
        <p:nvPicPr>
          <p:cNvPr id="37891" name="Picture 2"/>
          <p:cNvPicPr>
            <a:picLocks noGrp="1" noChangeAspect="1"/>
          </p:cNvPicPr>
          <p:nvPr>
            <p:ph sz="quarter" idx="1"/>
          </p:nvPr>
        </p:nvPicPr>
        <p:blipFill>
          <a:blip r:embed="rId1"/>
          <a:srcRect/>
          <a:stretch>
            <a:fillRect/>
          </a:stretch>
        </p:blipFill>
        <p:spPr>
          <a:xfrm>
            <a:off x="381000" y="1143000"/>
            <a:ext cx="8382000" cy="5105400"/>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1"/>
          <p:cNvSpPr>
            <a:spLocks noGrp="1"/>
          </p:cNvSpPr>
          <p:nvPr>
            <p:ph type="title"/>
          </p:nvPr>
        </p:nvSpPr>
        <p:spPr>
          <a:xfrm>
            <a:off x="152400" y="274638"/>
            <a:ext cx="8534400" cy="1249362"/>
          </a:xfrm>
        </p:spPr>
        <p:txBody>
          <a:bodyPr vert="horz" wrap="square" lIns="91440" tIns="45720" rIns="91440" bIns="91440" anchor="b" anchorCtr="0"/>
          <a:p>
            <a:r>
              <a:rPr sz="3200" dirty="0"/>
              <a:t>2)URL Rewriting</a:t>
            </a:r>
            <a:br>
              <a:rPr dirty="0"/>
            </a:br>
            <a:endParaRPr dirty="0"/>
          </a:p>
        </p:txBody>
      </p:sp>
      <p:sp>
        <p:nvSpPr>
          <p:cNvPr id="38915" name="Content Placeholder 2"/>
          <p:cNvSpPr>
            <a:spLocks noGrp="1"/>
          </p:cNvSpPr>
          <p:nvPr>
            <p:ph sz="quarter" idx="1"/>
          </p:nvPr>
        </p:nvSpPr>
        <p:spPr>
          <a:xfrm>
            <a:off x="381000" y="990600"/>
            <a:ext cx="8458200" cy="54864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In URL rewriting, </a:t>
            </a:r>
            <a:r>
              <a:rPr b="1" dirty="0"/>
              <a:t>we append a token or identifier to the URL of the next Servlet or the next resource. </a:t>
            </a:r>
            <a:endParaRPr b="1" dirty="0"/>
          </a:p>
          <a:p>
            <a:pPr algn="just">
              <a:buClr>
                <a:schemeClr val="accent1"/>
              </a:buClr>
              <a:buSzPct val="85000"/>
              <a:buFont typeface="Wingdings 2" panose="05020102010507070707" pitchFamily="18" charset="2"/>
            </a:pPr>
            <a:r>
              <a:rPr dirty="0"/>
              <a:t>We can send parameter name/value pairs using the following format:</a:t>
            </a:r>
            <a:endParaRPr dirty="0"/>
          </a:p>
          <a:p>
            <a:pPr algn="just">
              <a:buClr>
                <a:schemeClr val="accent1"/>
              </a:buClr>
              <a:buSzPct val="85000"/>
              <a:buFont typeface="Wingdings 2" panose="05020102010507070707" pitchFamily="18" charset="2"/>
              <a:buNone/>
            </a:pPr>
            <a:r>
              <a:rPr b="1" dirty="0"/>
              <a:t>              url?name1=value1&amp;name2=value2&amp;??</a:t>
            </a:r>
            <a:endParaRPr b="1" dirty="0"/>
          </a:p>
          <a:p>
            <a:pPr algn="just">
              <a:buClr>
                <a:schemeClr val="accent1"/>
              </a:buClr>
              <a:buSzPct val="85000"/>
              <a:buFont typeface="Wingdings 2" panose="05020102010507070707" pitchFamily="18" charset="2"/>
            </a:pPr>
            <a:r>
              <a:rPr dirty="0"/>
              <a:t>A name and a value is separated using an equal = sign, a parameter name/value pair is separated from another parameter using the ampersand(&amp;). </a:t>
            </a:r>
            <a:endParaRPr dirty="0"/>
          </a:p>
          <a:p>
            <a:pPr algn="just">
              <a:buClr>
                <a:schemeClr val="accent1"/>
              </a:buClr>
              <a:buSzPct val="85000"/>
              <a:buFont typeface="Wingdings 2" panose="05020102010507070707" pitchFamily="18" charset="2"/>
            </a:pPr>
            <a:r>
              <a:rPr dirty="0"/>
              <a:t>When the user clicks the </a:t>
            </a:r>
            <a:r>
              <a:rPr b="1" dirty="0"/>
              <a:t>hyperlink</a:t>
            </a:r>
            <a:r>
              <a:rPr dirty="0"/>
              <a:t>, </a:t>
            </a:r>
            <a:r>
              <a:rPr b="1" dirty="0"/>
              <a:t>the parameter name/value pairs will be passed to the server.</a:t>
            </a:r>
            <a:endParaRPr b="1" dirty="0"/>
          </a:p>
          <a:p>
            <a:pPr algn="just">
              <a:buClr>
                <a:schemeClr val="accent1"/>
              </a:buClr>
              <a:buSzPct val="85000"/>
              <a:buFont typeface="Wingdings 2" panose="05020102010507070707" pitchFamily="18" charset="2"/>
            </a:pPr>
            <a:r>
              <a:rPr dirty="0"/>
              <a:t> From a Servlet, we can use </a:t>
            </a:r>
            <a:r>
              <a:rPr b="1" dirty="0"/>
              <a:t>getParameter() </a:t>
            </a:r>
            <a:r>
              <a:rPr dirty="0"/>
              <a:t>method to obtain a parameter value.</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itle 1"/>
          <p:cNvSpPr>
            <a:spLocks noGrp="1"/>
          </p:cNvSpPr>
          <p:nvPr>
            <p:ph type="title"/>
          </p:nvPr>
        </p:nvSpPr>
        <p:spPr>
          <a:xfrm>
            <a:off x="228600" y="274638"/>
            <a:ext cx="8458200" cy="715962"/>
          </a:xfrm>
        </p:spPr>
        <p:txBody>
          <a:bodyPr vert="horz" wrap="square" lIns="91440" tIns="45720" rIns="91440" bIns="91440" anchor="b" anchorCtr="0"/>
          <a:p>
            <a:r>
              <a:rPr dirty="0"/>
              <a:t>2)URL Rewriting</a:t>
            </a:r>
            <a:endParaRPr dirty="0"/>
          </a:p>
        </p:txBody>
      </p:sp>
      <p:pic>
        <p:nvPicPr>
          <p:cNvPr id="39939" name="Picture 2"/>
          <p:cNvPicPr>
            <a:picLocks noGrp="1" noChangeAspect="1"/>
          </p:cNvPicPr>
          <p:nvPr>
            <p:ph sz="quarter" idx="1"/>
          </p:nvPr>
        </p:nvPicPr>
        <p:blipFill>
          <a:blip r:embed="rId1"/>
          <a:srcRect/>
          <a:stretch>
            <a:fillRect/>
          </a:stretch>
        </p:blipFill>
        <p:spPr>
          <a:xfrm>
            <a:off x="304800" y="1447800"/>
            <a:ext cx="8458200" cy="457200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itle 1"/>
          <p:cNvSpPr>
            <a:spLocks noGrp="1"/>
          </p:cNvSpPr>
          <p:nvPr>
            <p:ph type="title"/>
          </p:nvPr>
        </p:nvSpPr>
        <p:spPr>
          <a:xfrm>
            <a:off x="381000" y="274638"/>
            <a:ext cx="8305800" cy="715962"/>
          </a:xfrm>
        </p:spPr>
        <p:txBody>
          <a:bodyPr vert="horz" wrap="square" lIns="91440" tIns="45720" rIns="91440" bIns="91440" anchor="b" anchorCtr="0"/>
          <a:p>
            <a:r>
              <a:rPr dirty="0"/>
              <a:t>2)URL Rewriting</a:t>
            </a:r>
            <a:endParaRPr dirty="0"/>
          </a:p>
        </p:txBody>
      </p:sp>
      <p:sp>
        <p:nvSpPr>
          <p:cNvPr id="40963" name="Content Placeholder 2"/>
          <p:cNvSpPr>
            <a:spLocks noGrp="1"/>
          </p:cNvSpPr>
          <p:nvPr>
            <p:ph sz="quarter" idx="1"/>
          </p:nvPr>
        </p:nvSpPr>
        <p:spPr>
          <a:xfrm>
            <a:off x="228600" y="1447800"/>
            <a:ext cx="8686800" cy="51816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Advantage of URL Rewriting</a:t>
            </a:r>
            <a:endParaRPr b="1" dirty="0"/>
          </a:p>
          <a:p>
            <a:pPr>
              <a:buClr>
                <a:schemeClr val="accent1"/>
              </a:buClr>
              <a:buSzPct val="85000"/>
              <a:buFont typeface="Wingdings 2" panose="05020102010507070707" pitchFamily="18" charset="2"/>
            </a:pPr>
            <a:r>
              <a:rPr dirty="0"/>
              <a:t>It will always work </a:t>
            </a:r>
            <a:r>
              <a:rPr b="1" dirty="0"/>
              <a:t>whether cookie is disabled or not </a:t>
            </a:r>
            <a:r>
              <a:rPr dirty="0"/>
              <a:t>(browser independent).</a:t>
            </a:r>
            <a:endParaRPr dirty="0"/>
          </a:p>
          <a:p>
            <a:pPr>
              <a:buClr>
                <a:schemeClr val="accent1"/>
              </a:buClr>
              <a:buSzPct val="85000"/>
              <a:buFont typeface="Wingdings 2" panose="05020102010507070707" pitchFamily="18" charset="2"/>
            </a:pPr>
            <a:r>
              <a:rPr b="1" dirty="0"/>
              <a:t>Extra form submission is not required </a:t>
            </a:r>
            <a:r>
              <a:rPr dirty="0"/>
              <a:t>on each pages.</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Disadvantage of URL Rewriting</a:t>
            </a:r>
            <a:endParaRPr b="1" dirty="0"/>
          </a:p>
          <a:p>
            <a:pPr>
              <a:buClr>
                <a:schemeClr val="accent1"/>
              </a:buClr>
              <a:buSzPct val="85000"/>
              <a:buFont typeface="Wingdings 2" panose="05020102010507070707" pitchFamily="18" charset="2"/>
            </a:pPr>
            <a:r>
              <a:rPr dirty="0"/>
              <a:t>It will work only with links.</a:t>
            </a:r>
            <a:endParaRPr dirty="0"/>
          </a:p>
          <a:p>
            <a:pPr>
              <a:buClr>
                <a:schemeClr val="accent1"/>
              </a:buClr>
              <a:buSzPct val="85000"/>
              <a:buFont typeface="Wingdings 2" panose="05020102010507070707" pitchFamily="18" charset="2"/>
            </a:pPr>
            <a:r>
              <a:rPr dirty="0"/>
              <a:t>It can send Only textual information.</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itle 1"/>
          <p:cNvSpPr>
            <a:spLocks noGrp="1"/>
          </p:cNvSpPr>
          <p:nvPr>
            <p:ph type="title"/>
          </p:nvPr>
        </p:nvSpPr>
        <p:spPr>
          <a:xfrm>
            <a:off x="304800" y="274638"/>
            <a:ext cx="8382000" cy="1143000"/>
          </a:xfrm>
        </p:spPr>
        <p:txBody>
          <a:bodyPr vert="horz" wrap="square" lIns="91440" tIns="45720" rIns="91440" bIns="91440" anchor="b" anchorCtr="0"/>
          <a:p>
            <a:r>
              <a:rPr sz="3600" dirty="0"/>
              <a:t>3) HttpSession interface</a:t>
            </a:r>
            <a:br>
              <a:rPr dirty="0"/>
            </a:br>
            <a:endParaRPr dirty="0"/>
          </a:p>
        </p:txBody>
      </p:sp>
      <p:sp>
        <p:nvSpPr>
          <p:cNvPr id="3" name="Content Placeholder 2"/>
          <p:cNvSpPr>
            <a:spLocks noGrp="1"/>
          </p:cNvSpPr>
          <p:nvPr>
            <p:ph sz="quarter" idx="1"/>
          </p:nvPr>
        </p:nvSpPr>
        <p:spPr>
          <a:xfrm>
            <a:off x="304800" y="990600"/>
            <a:ext cx="8610600" cy="5486400"/>
          </a:xfrm>
        </p:spPr>
        <p:txBody>
          <a:bodyPr vert="horz" wrap="square" lIns="91440" tIns="45720" rIns="91440" bIns="45720" numCol="1" anchor="t" anchorCtr="0" compatLnSpc="1"/>
          <a:lstStyle/>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In such case, container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creates a</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session id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for each user.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container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uses this id to identify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particular user.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An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object of HttpSession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can be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used to perform two tasks:</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bind objects</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view and manipulate information about a session, such as the session identifier, creation time, and last accessed time.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itle 1"/>
          <p:cNvSpPr>
            <a:spLocks noGrp="1"/>
          </p:cNvSpPr>
          <p:nvPr>
            <p:ph type="title"/>
          </p:nvPr>
        </p:nvSpPr>
        <p:spPr>
          <a:xfrm>
            <a:off x="228600" y="274638"/>
            <a:ext cx="8458200" cy="563562"/>
          </a:xfrm>
        </p:spPr>
        <p:txBody>
          <a:bodyPr vert="horz" wrap="square" lIns="91440" tIns="45720" rIns="91440" bIns="91440" anchor="b" anchorCtr="0"/>
          <a:p>
            <a:r>
              <a:rPr dirty="0"/>
              <a:t>3) HttpSession interface</a:t>
            </a:r>
            <a:endParaRPr dirty="0"/>
          </a:p>
        </p:txBody>
      </p:sp>
      <p:pic>
        <p:nvPicPr>
          <p:cNvPr id="43011" name="Picture 2"/>
          <p:cNvPicPr>
            <a:picLocks noGrp="1" noChangeAspect="1"/>
          </p:cNvPicPr>
          <p:nvPr>
            <p:ph sz="quarter" idx="1"/>
          </p:nvPr>
        </p:nvPicPr>
        <p:blipFill>
          <a:blip r:embed="rId1"/>
          <a:srcRect/>
          <a:stretch>
            <a:fillRect/>
          </a:stretch>
        </p:blipFill>
        <p:spPr>
          <a:xfrm>
            <a:off x="304800" y="1295400"/>
            <a:ext cx="8534400" cy="4800600"/>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itle 1"/>
          <p:cNvSpPr>
            <a:spLocks noGrp="1"/>
          </p:cNvSpPr>
          <p:nvPr>
            <p:ph type="title"/>
          </p:nvPr>
        </p:nvSpPr>
        <p:spPr>
          <a:xfrm>
            <a:off x="304800" y="0"/>
            <a:ext cx="8382000" cy="1477963"/>
          </a:xfrm>
        </p:spPr>
        <p:txBody>
          <a:bodyPr vert="horz" wrap="square" lIns="91440" tIns="45720" rIns="91440" bIns="91440" anchor="b" anchorCtr="0"/>
          <a:p>
            <a:r>
              <a:rPr sz="3600" dirty="0"/>
              <a:t>How to get the HttpSession object ?</a:t>
            </a:r>
            <a:br>
              <a:rPr dirty="0"/>
            </a:br>
            <a:endParaRPr dirty="0"/>
          </a:p>
        </p:txBody>
      </p:sp>
      <p:sp>
        <p:nvSpPr>
          <p:cNvPr id="44035" name="Content Placeholder 2"/>
          <p:cNvSpPr>
            <a:spLocks noGrp="1"/>
          </p:cNvSpPr>
          <p:nvPr>
            <p:ph sz="quarter" idx="1"/>
          </p:nvPr>
        </p:nvSpPr>
        <p:spPr>
          <a:xfrm>
            <a:off x="152400" y="1066800"/>
            <a:ext cx="8991600" cy="5181600"/>
          </a:xfrm>
        </p:spPr>
        <p:txBody>
          <a:bodyPr vert="horz" wrap="square" lIns="91440" tIns="45720" rIns="91440" bIns="45720" anchor="t" anchorCtr="0"/>
          <a:p>
            <a:pPr>
              <a:buClr>
                <a:schemeClr val="accent1"/>
              </a:buClr>
              <a:buSzPct val="85000"/>
              <a:buFont typeface="Wingdings 2" panose="05020102010507070707" pitchFamily="18" charset="2"/>
            </a:pPr>
            <a:r>
              <a:rPr dirty="0"/>
              <a:t>The </a:t>
            </a:r>
            <a:r>
              <a:rPr b="1" dirty="0"/>
              <a:t>HttpServletRequest interface provides two methods to get the object of HttpSession:</a:t>
            </a:r>
            <a:endParaRPr b="1"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1. public HttpSession getSession():</a:t>
            </a:r>
            <a:endParaRPr b="1" dirty="0"/>
          </a:p>
          <a:p>
            <a:pPr>
              <a:buClr>
                <a:schemeClr val="accent1"/>
              </a:buClr>
              <a:buSzPct val="85000"/>
              <a:buFont typeface="Wingdings 2" panose="05020102010507070707" pitchFamily="18" charset="2"/>
            </a:pPr>
            <a:r>
              <a:rPr dirty="0"/>
              <a:t>Returns the current session associated with this request, or if the request does not have a session, creates one.</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2. public HttpSession getSession (boolean create):</a:t>
            </a:r>
            <a:endParaRPr b="1" dirty="0"/>
          </a:p>
          <a:p>
            <a:pPr>
              <a:buClr>
                <a:schemeClr val="accent1"/>
              </a:buClr>
              <a:buSzPct val="85000"/>
              <a:buFont typeface="Wingdings 2" panose="05020102010507070707" pitchFamily="18" charset="2"/>
            </a:pPr>
            <a:r>
              <a:rPr b="1" dirty="0"/>
              <a:t>    </a:t>
            </a:r>
            <a:r>
              <a:rPr dirty="0"/>
              <a:t>Returns the current HttpSession associated with this request or, if there is no current session and create is true, returns a new session.</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itle 1"/>
          <p:cNvSpPr>
            <a:spLocks noGrp="1"/>
          </p:cNvSpPr>
          <p:nvPr>
            <p:ph type="title"/>
          </p:nvPr>
        </p:nvSpPr>
        <p:spPr>
          <a:xfrm>
            <a:off x="381000" y="274638"/>
            <a:ext cx="8305800" cy="1782762"/>
          </a:xfrm>
        </p:spPr>
        <p:txBody>
          <a:bodyPr vert="horz" wrap="square" lIns="91440" tIns="45720" rIns="91440" bIns="91440" anchor="b" anchorCtr="0"/>
          <a:p>
            <a:r>
              <a:rPr sz="3600" dirty="0"/>
              <a:t>Commonly used methods of HttpSession interface</a:t>
            </a:r>
            <a:br>
              <a:rPr dirty="0"/>
            </a:br>
            <a:endParaRPr dirty="0"/>
          </a:p>
        </p:txBody>
      </p:sp>
      <p:sp>
        <p:nvSpPr>
          <p:cNvPr id="45059" name="Content Placeholder 2"/>
          <p:cNvSpPr>
            <a:spLocks noGrp="1"/>
          </p:cNvSpPr>
          <p:nvPr>
            <p:ph sz="quarter" idx="1"/>
          </p:nvPr>
        </p:nvSpPr>
        <p:spPr>
          <a:xfrm>
            <a:off x="304800" y="1447800"/>
            <a:ext cx="8610600" cy="5105400"/>
          </a:xfrm>
        </p:spPr>
        <p:txBody>
          <a:bodyPr vert="horz" wrap="square" lIns="91440" tIns="45720" rIns="91440" bIns="45720" anchor="t" anchorCtr="0"/>
          <a:p>
            <a:pPr algn="just">
              <a:buClr>
                <a:schemeClr val="accent1"/>
              </a:buClr>
              <a:buSzPct val="85000"/>
              <a:buFont typeface="Wingdings 2" panose="05020102010507070707" pitchFamily="18" charset="2"/>
            </a:pPr>
            <a:r>
              <a:rPr b="1" dirty="0"/>
              <a:t>public String getId():</a:t>
            </a:r>
            <a:r>
              <a:rPr dirty="0"/>
              <a:t>Returns a string containing the unique identifier value.</a:t>
            </a:r>
            <a:endParaRPr dirty="0"/>
          </a:p>
          <a:p>
            <a:pPr algn="just">
              <a:buClr>
                <a:schemeClr val="accent1"/>
              </a:buClr>
              <a:buSzPct val="85000"/>
              <a:buFont typeface="Wingdings 2" panose="05020102010507070707" pitchFamily="18" charset="2"/>
            </a:pPr>
            <a:r>
              <a:rPr b="1" dirty="0"/>
              <a:t>public long getCreationTime():</a:t>
            </a:r>
            <a:r>
              <a:rPr dirty="0"/>
              <a:t>Returns the time when this session was created, measured in milliseconds since midnight January 1, 1970 GMT.</a:t>
            </a:r>
            <a:endParaRPr dirty="0"/>
          </a:p>
          <a:p>
            <a:pPr algn="just">
              <a:buClr>
                <a:schemeClr val="accent1"/>
              </a:buClr>
              <a:buSzPct val="85000"/>
              <a:buFont typeface="Wingdings 2" panose="05020102010507070707" pitchFamily="18" charset="2"/>
            </a:pPr>
            <a:r>
              <a:rPr b="1" dirty="0"/>
              <a:t>public long getLastAccessedTime():</a:t>
            </a:r>
            <a:r>
              <a:rPr dirty="0"/>
              <a:t>Returns the last time the client sent a request associated with this session, as the number of milliseconds since midnight January 1, 1970 GMT.</a:t>
            </a:r>
            <a:endParaRPr dirty="0"/>
          </a:p>
          <a:p>
            <a:pPr algn="just">
              <a:buClr>
                <a:schemeClr val="accent1"/>
              </a:buClr>
              <a:buSzPct val="85000"/>
              <a:buFont typeface="Wingdings 2" panose="05020102010507070707" pitchFamily="18" charset="2"/>
            </a:pPr>
            <a:r>
              <a:rPr b="1" dirty="0"/>
              <a:t>public void invalidate():</a:t>
            </a:r>
            <a:r>
              <a:rPr dirty="0"/>
              <a:t>Invalidates this session then unbinds any objects bound to it.</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itle 1"/>
          <p:cNvSpPr>
            <a:spLocks noGrp="1"/>
          </p:cNvSpPr>
          <p:nvPr>
            <p:ph type="title"/>
          </p:nvPr>
        </p:nvSpPr>
        <p:spPr>
          <a:xfrm>
            <a:off x="304800" y="274638"/>
            <a:ext cx="8382000" cy="1401762"/>
          </a:xfrm>
        </p:spPr>
        <p:txBody>
          <a:bodyPr vert="horz" wrap="square" lIns="91440" tIns="45720" rIns="91440" bIns="91440" anchor="b" anchorCtr="0"/>
          <a:p>
            <a:r>
              <a:rPr sz="3600" b="1" dirty="0"/>
              <a:t>4 Cookies in Servlet</a:t>
            </a:r>
            <a:br>
              <a:rPr dirty="0"/>
            </a:br>
            <a:endParaRPr dirty="0"/>
          </a:p>
        </p:txBody>
      </p:sp>
      <p:sp>
        <p:nvSpPr>
          <p:cNvPr id="46083" name="Content Placeholder 2"/>
          <p:cNvSpPr>
            <a:spLocks noGrp="1"/>
          </p:cNvSpPr>
          <p:nvPr>
            <p:ph sz="quarter" idx="1"/>
          </p:nvPr>
        </p:nvSpPr>
        <p:spPr>
          <a:xfrm>
            <a:off x="304800" y="1447800"/>
            <a:ext cx="8610600" cy="51054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A </a:t>
            </a:r>
            <a:r>
              <a:rPr b="1" dirty="0"/>
              <a:t>cookie</a:t>
            </a:r>
            <a:r>
              <a:rPr dirty="0"/>
              <a:t> is a </a:t>
            </a:r>
            <a:r>
              <a:rPr b="1" dirty="0"/>
              <a:t>small piece of information that is persisted between the multiple client requests.</a:t>
            </a:r>
            <a:endParaRPr b="1" dirty="0"/>
          </a:p>
          <a:p>
            <a:pPr algn="just">
              <a:buClr>
                <a:schemeClr val="accent1"/>
              </a:buClr>
              <a:buSzPct val="85000"/>
              <a:buFont typeface="Wingdings 2" panose="05020102010507070707" pitchFamily="18" charset="2"/>
            </a:pPr>
            <a:endParaRPr b="1" dirty="0"/>
          </a:p>
          <a:p>
            <a:pPr algn="just">
              <a:buClr>
                <a:schemeClr val="accent1"/>
              </a:buClr>
              <a:buSzPct val="85000"/>
              <a:buFont typeface="Wingdings 2" panose="05020102010507070707" pitchFamily="18" charset="2"/>
            </a:pPr>
            <a:r>
              <a:rPr dirty="0"/>
              <a:t>A cookie has a </a:t>
            </a:r>
            <a:r>
              <a:rPr b="1" dirty="0"/>
              <a:t>name</a:t>
            </a:r>
            <a:r>
              <a:rPr dirty="0"/>
              <a:t>, </a:t>
            </a:r>
            <a:r>
              <a:rPr b="1" dirty="0"/>
              <a:t>a single value, </a:t>
            </a:r>
            <a:r>
              <a:rPr dirty="0"/>
              <a:t>and </a:t>
            </a:r>
            <a:r>
              <a:rPr b="1" dirty="0"/>
              <a:t>optional attributes </a:t>
            </a:r>
            <a:r>
              <a:rPr dirty="0"/>
              <a:t>such as a comment, path and domain qualifiers, a maximum age, and a version number.</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itle 1"/>
          <p:cNvSpPr>
            <a:spLocks noGrp="1"/>
          </p:cNvSpPr>
          <p:nvPr>
            <p:ph type="title"/>
          </p:nvPr>
        </p:nvSpPr>
        <p:spPr>
          <a:xfrm>
            <a:off x="228600" y="990600"/>
            <a:ext cx="8534400" cy="563563"/>
          </a:xfrm>
        </p:spPr>
        <p:txBody>
          <a:bodyPr vert="horz" wrap="square" lIns="91440" tIns="45720" rIns="91440" bIns="91440" anchor="b" anchorCtr="0"/>
          <a:p>
            <a:r>
              <a:rPr sz="3600" b="1" dirty="0"/>
              <a:t>How Cookie works</a:t>
            </a:r>
            <a:br>
              <a:rPr dirty="0"/>
            </a:br>
            <a:endParaRPr dirty="0"/>
          </a:p>
        </p:txBody>
      </p:sp>
      <p:sp>
        <p:nvSpPr>
          <p:cNvPr id="47107" name="Content Placeholder 2"/>
          <p:cNvSpPr>
            <a:spLocks noGrp="1"/>
          </p:cNvSpPr>
          <p:nvPr>
            <p:ph sz="quarter" idx="1"/>
          </p:nvPr>
        </p:nvSpPr>
        <p:spPr>
          <a:xfrm>
            <a:off x="228600" y="1447800"/>
            <a:ext cx="8610600" cy="51054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By default, each request is considered as a new request. </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In </a:t>
            </a:r>
            <a:r>
              <a:rPr b="1" dirty="0"/>
              <a:t>cookies technique</a:t>
            </a:r>
            <a:r>
              <a:rPr dirty="0"/>
              <a:t>, we add cookie with response from the servlet. So cookie is stored in the cache of the browser. </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After that </a:t>
            </a:r>
            <a:r>
              <a:rPr b="1" dirty="0"/>
              <a:t>if request is sent by the user, cookie is added with request by default.</a:t>
            </a:r>
            <a:r>
              <a:rPr dirty="0"/>
              <a:t> Thus, we recognize the user as the old user.</a:t>
            </a:r>
            <a:endParaRPr dirty="0"/>
          </a:p>
          <a:p>
            <a:pPr>
              <a:buClr>
                <a:schemeClr val="accent1"/>
              </a:buClr>
              <a:buSzPct val="85000"/>
              <a:buFont typeface="Wingdings 2" panose="05020102010507070707" pitchFamily="18" charset="2"/>
              <a:buNone/>
            </a:pPr>
            <a:br>
              <a:rPr dirty="0"/>
            </a:b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2"/>
          <p:cNvPicPr>
            <a:picLocks noGrp="1" noChangeAspect="1"/>
          </p:cNvPicPr>
          <p:nvPr>
            <p:ph sz="quarter" idx="1"/>
          </p:nvPr>
        </p:nvPicPr>
        <p:blipFill>
          <a:blip r:embed="rId1"/>
          <a:srcRect/>
          <a:stretch>
            <a:fillRect/>
          </a:stretch>
        </p:blipFill>
        <p:spPr>
          <a:xfrm>
            <a:off x="838200" y="1981200"/>
            <a:ext cx="7620000" cy="3886200"/>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itle 1"/>
          <p:cNvSpPr>
            <a:spLocks noGrp="1"/>
          </p:cNvSpPr>
          <p:nvPr>
            <p:ph type="title"/>
          </p:nvPr>
        </p:nvSpPr>
        <p:spPr>
          <a:xfrm>
            <a:off x="381000" y="274638"/>
            <a:ext cx="8305800" cy="1143000"/>
          </a:xfrm>
        </p:spPr>
        <p:txBody>
          <a:bodyPr vert="horz" wrap="square" lIns="91440" tIns="45720" rIns="91440" bIns="91440" anchor="b" anchorCtr="0"/>
          <a:p>
            <a:r>
              <a:rPr sz="3600" b="1" dirty="0"/>
              <a:t>Types of Cookie</a:t>
            </a:r>
            <a:br>
              <a:rPr dirty="0"/>
            </a:br>
            <a:endParaRPr dirty="0"/>
          </a:p>
        </p:txBody>
      </p:sp>
      <p:sp>
        <p:nvSpPr>
          <p:cNvPr id="3" name="Content Placeholder 2"/>
          <p:cNvSpPr>
            <a:spLocks noGrp="1"/>
          </p:cNvSpPr>
          <p:nvPr>
            <p:ph sz="quarter" idx="1"/>
          </p:nvPr>
        </p:nvSpPr>
        <p:spPr>
          <a:xfrm>
            <a:off x="228600" y="838200"/>
            <a:ext cx="8610600" cy="5715000"/>
          </a:xfrm>
        </p:spPr>
        <p:txBody>
          <a:bodyPr vert="horz" wrap="square" lIns="91440" tIns="45720" rIns="91440" bIns="45720" numCol="1" anchor="t" anchorCtr="0" compatLnSpc="1"/>
          <a:lstStyle/>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There are 2 types of cookies in servlets.</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Non-persistent cookie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Persistent cookie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ts val="575"/>
              </a:spcBef>
              <a:spcAft>
                <a:spcPct val="0"/>
              </a:spcAft>
              <a:buClr>
                <a:schemeClr val="accent1"/>
              </a:buClr>
              <a:buSzPct val="85000"/>
              <a:buFont typeface="+mj-lt"/>
              <a:buAutoNum type="arabicPeriod"/>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Non-persistent cookie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It is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valid for single session</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only. It is removed each time when user closes the browser.</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Persistent cookie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It is </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valid for multiple session</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 It is not removed each time when user closes the browser. It is removed only if user logout or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signout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Content Placeholder 2"/>
          <p:cNvSpPr>
            <a:spLocks noGrp="1"/>
          </p:cNvSpPr>
          <p:nvPr>
            <p:ph sz="quarter" idx="1"/>
          </p:nvPr>
        </p:nvSpPr>
        <p:spPr>
          <a:xfrm>
            <a:off x="304800" y="228600"/>
            <a:ext cx="8382000" cy="6324600"/>
          </a:xfrm>
        </p:spPr>
        <p:txBody>
          <a:bodyPr vert="horz" wrap="square" lIns="91440" tIns="45720" rIns="91440" bIns="45720" anchor="t" anchorCtr="0"/>
          <a:p>
            <a:pPr>
              <a:buClr>
                <a:schemeClr val="accent1"/>
              </a:buClr>
              <a:buSzPct val="85000"/>
              <a:buFont typeface="Wingdings 2" panose="05020102010507070707" pitchFamily="18" charset="2"/>
              <a:buNone/>
            </a:pPr>
            <a:endParaRPr b="1" dirty="0"/>
          </a:p>
          <a:p>
            <a:pPr>
              <a:buClr>
                <a:schemeClr val="accent1"/>
              </a:buClr>
              <a:buSzPct val="85000"/>
              <a:buFont typeface="Wingdings 2" panose="05020102010507070707" pitchFamily="18" charset="2"/>
              <a:buNone/>
            </a:pPr>
            <a:r>
              <a:rPr b="1" dirty="0"/>
              <a:t>Advantage of Cookies</a:t>
            </a:r>
            <a:endParaRPr b="1" dirty="0"/>
          </a:p>
          <a:p>
            <a:pPr>
              <a:buClr>
                <a:schemeClr val="accent1"/>
              </a:buClr>
              <a:buSzPct val="85000"/>
              <a:buFont typeface="Wingdings 2" panose="05020102010507070707" pitchFamily="18" charset="2"/>
              <a:buNone/>
            </a:pPr>
            <a:endParaRPr b="1" dirty="0"/>
          </a:p>
          <a:p>
            <a:pPr>
              <a:buClr>
                <a:schemeClr val="accent1"/>
              </a:buClr>
              <a:buSzPct val="85000"/>
              <a:buFont typeface="Wingdings 2" panose="05020102010507070707" pitchFamily="18" charset="2"/>
            </a:pPr>
            <a:r>
              <a:rPr dirty="0"/>
              <a:t>Simplest technique of maintaining the state.</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Cookies are maintained at client side.</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Disadvantage of Cookies</a:t>
            </a:r>
            <a:endParaRPr b="1" dirty="0"/>
          </a:p>
          <a:p>
            <a:pPr>
              <a:buClr>
                <a:schemeClr val="accent1"/>
              </a:buClr>
              <a:buSzPct val="85000"/>
              <a:buFont typeface="Wingdings 2" panose="05020102010507070707" pitchFamily="18" charset="2"/>
              <a:buNone/>
            </a:pPr>
            <a:endParaRPr b="1" dirty="0"/>
          </a:p>
          <a:p>
            <a:pPr>
              <a:buClr>
                <a:schemeClr val="accent1"/>
              </a:buClr>
              <a:buSzPct val="85000"/>
              <a:buFont typeface="Wingdings 2" panose="05020102010507070707" pitchFamily="18" charset="2"/>
            </a:pPr>
            <a:r>
              <a:rPr dirty="0"/>
              <a:t>It will not work if cookie is disabled from the browser.</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Only textual information can be set in Cookie object.</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itle 1"/>
          <p:cNvSpPr>
            <a:spLocks noGrp="1"/>
          </p:cNvSpPr>
          <p:nvPr>
            <p:ph type="ctrTitle"/>
          </p:nvPr>
        </p:nvSpPr>
        <p:spPr>
          <a:xfrm>
            <a:off x="228600" y="1506538"/>
            <a:ext cx="8686800" cy="1470025"/>
          </a:xfrm>
        </p:spPr>
        <p:txBody>
          <a:bodyPr vert="horz" wrap="square" lIns="91440" tIns="45720" rIns="91440" bIns="91440" anchor="ctr" anchorCtr="0"/>
          <a:p>
            <a:pPr eaLnBrk="1" hangingPunct="1">
              <a:buClrTx/>
              <a:buSzTx/>
              <a:buFontTx/>
            </a:pPr>
            <a:r>
              <a:rPr sz="4400" b="1" kern="1200" dirty="0">
                <a:solidFill>
                  <a:srgbClr val="FFFFFF"/>
                </a:solidFill>
                <a:latin typeface="+mj-lt"/>
                <a:ea typeface="+mj-ea"/>
                <a:cs typeface="+mj-cs"/>
              </a:rPr>
              <a:t>Apache Tomcat websever</a:t>
            </a:r>
            <a:endParaRPr sz="4400" b="1" kern="1200" dirty="0">
              <a:solidFill>
                <a:srgbClr val="FFFFFF"/>
              </a:solidFill>
              <a:latin typeface="+mj-lt"/>
              <a:ea typeface="+mj-ea"/>
              <a:cs typeface="+mj-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itle 1"/>
          <p:cNvSpPr>
            <a:spLocks noGrp="1"/>
          </p:cNvSpPr>
          <p:nvPr>
            <p:ph type="ctrTitle"/>
          </p:nvPr>
        </p:nvSpPr>
        <p:spPr>
          <a:xfrm>
            <a:off x="457200" y="1506538"/>
            <a:ext cx="8229600" cy="1470025"/>
          </a:xfrm>
        </p:spPr>
        <p:txBody>
          <a:bodyPr vert="horz" wrap="square" lIns="91440" tIns="45720" rIns="91440" bIns="91440" anchor="ctr" anchorCtr="0"/>
          <a:p>
            <a:pPr eaLnBrk="1" hangingPunct="1">
              <a:buClrTx/>
              <a:buSzTx/>
              <a:buFontTx/>
            </a:pPr>
            <a:r>
              <a:rPr sz="4400" b="1" kern="1200" dirty="0">
                <a:solidFill>
                  <a:srgbClr val="FFFFFF"/>
                </a:solidFill>
                <a:latin typeface="+mj-lt"/>
                <a:ea typeface="+mj-ea"/>
                <a:cs typeface="+mj-cs"/>
              </a:rPr>
              <a:t>Installing  and Configuring  Apache Tomcat websever</a:t>
            </a:r>
            <a:endParaRPr sz="4400" b="1" kern="1200" dirty="0">
              <a:solidFill>
                <a:srgbClr val="FFFFFF"/>
              </a:solidFill>
              <a:latin typeface="+mj-lt"/>
              <a:ea typeface="+mj-ea"/>
              <a:cs typeface="+mj-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itle 1"/>
          <p:cNvSpPr>
            <a:spLocks noGrp="1"/>
          </p:cNvSpPr>
          <p:nvPr>
            <p:ph type="title"/>
          </p:nvPr>
        </p:nvSpPr>
        <p:spPr>
          <a:xfrm>
            <a:off x="152400" y="274638"/>
            <a:ext cx="8534400" cy="1173162"/>
          </a:xfrm>
        </p:spPr>
        <p:txBody>
          <a:bodyPr vert="horz" wrap="square" lIns="91440" tIns="45720" rIns="91440" bIns="91440" anchor="b" anchorCtr="0"/>
          <a:p>
            <a:r>
              <a:rPr dirty="0"/>
              <a:t>What is Tomcat?</a:t>
            </a:r>
            <a:br>
              <a:rPr dirty="0"/>
            </a:br>
            <a:endParaRPr dirty="0"/>
          </a:p>
        </p:txBody>
      </p:sp>
      <p:sp>
        <p:nvSpPr>
          <p:cNvPr id="53251" name="Content Placeholder 2"/>
          <p:cNvSpPr>
            <a:spLocks noGrp="1"/>
          </p:cNvSpPr>
          <p:nvPr>
            <p:ph sz="quarter" idx="1"/>
          </p:nvPr>
        </p:nvSpPr>
        <p:spPr>
          <a:xfrm>
            <a:off x="0" y="762000"/>
            <a:ext cx="9144000" cy="5867400"/>
          </a:xfrm>
        </p:spPr>
        <p:txBody>
          <a:bodyPr vert="horz" wrap="square" lIns="91440" tIns="45720" rIns="91440" bIns="45720" anchor="t" anchorCtr="0"/>
          <a:p>
            <a:pPr>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It is an </a:t>
            </a:r>
            <a:r>
              <a:rPr b="1" dirty="0"/>
              <a:t>open-source Java servlet container </a:t>
            </a:r>
            <a:r>
              <a:rPr dirty="0"/>
              <a:t>that implements many </a:t>
            </a:r>
            <a:r>
              <a:rPr b="1" dirty="0"/>
              <a:t>Java Enterprise Specs </a:t>
            </a:r>
            <a:r>
              <a:rPr dirty="0"/>
              <a:t>such as the </a:t>
            </a:r>
            <a:r>
              <a:rPr b="1" dirty="0"/>
              <a:t>Websites API, Java-Server Pages </a:t>
            </a:r>
            <a:r>
              <a:rPr dirty="0"/>
              <a:t>and last but not least, the Java Servlet. </a:t>
            </a:r>
            <a:endParaRPr dirty="0"/>
          </a:p>
          <a:p>
            <a:pPr algn="just">
              <a:buClr>
                <a:schemeClr val="accent1"/>
              </a:buClr>
              <a:buSzPct val="85000"/>
              <a:buFont typeface="Wingdings 2" panose="05020102010507070707" pitchFamily="18" charset="2"/>
            </a:pPr>
            <a:r>
              <a:rPr dirty="0"/>
              <a:t>We can use it to host code based on Java.</a:t>
            </a:r>
            <a:endParaRPr dirty="0"/>
          </a:p>
          <a:p>
            <a:pPr algn="just">
              <a:buClr>
                <a:schemeClr val="accent1"/>
              </a:buClr>
              <a:buSzPct val="85000"/>
              <a:buFont typeface="Wingdings 2" panose="05020102010507070707" pitchFamily="18" charset="2"/>
            </a:pPr>
            <a:r>
              <a:rPr dirty="0"/>
              <a:t>Apache tomcat server can be </a:t>
            </a:r>
            <a:r>
              <a:rPr b="1" dirty="0"/>
              <a:t>used to handle both static and dynamic pages.</a:t>
            </a:r>
            <a:endParaRPr b="1" dirty="0"/>
          </a:p>
          <a:p>
            <a:pPr algn="just">
              <a:buClr>
                <a:schemeClr val="accent1"/>
              </a:buClr>
              <a:buSzPct val="85000"/>
              <a:buFont typeface="Wingdings 2" panose="05020102010507070707" pitchFamily="18" charset="2"/>
            </a:pPr>
            <a:r>
              <a:rPr b="1" dirty="0"/>
              <a:t> </a:t>
            </a:r>
            <a:r>
              <a:rPr dirty="0"/>
              <a:t>Pages generated using </a:t>
            </a:r>
            <a:r>
              <a:rPr b="1" dirty="0"/>
              <a:t>HTML are static pages</a:t>
            </a:r>
            <a:r>
              <a:rPr dirty="0"/>
              <a:t>, and the pages generated using </a:t>
            </a:r>
            <a:r>
              <a:rPr b="1" dirty="0"/>
              <a:t>Servlet and JSP are dynamic pages</a:t>
            </a:r>
            <a:r>
              <a:rPr dirty="0"/>
              <a:t>.</a:t>
            </a:r>
            <a:endParaRPr dirty="0"/>
          </a:p>
          <a:p>
            <a:pPr algn="just">
              <a:buClr>
                <a:schemeClr val="accent1"/>
              </a:buClr>
              <a:buSzPct val="85000"/>
              <a:buFont typeface="Wingdings 2" panose="05020102010507070707" pitchFamily="18" charset="2"/>
            </a:pPr>
            <a:r>
              <a:rPr dirty="0"/>
              <a:t>It is not more configurable and robust.</a:t>
            </a:r>
            <a:endParaRPr dirty="0"/>
          </a:p>
          <a:p>
            <a:pPr algn="just">
              <a:buClr>
                <a:schemeClr val="accent1"/>
              </a:buClr>
              <a:buSzPct val="85000"/>
              <a:buFont typeface="Wingdings 2" panose="05020102010507070707" pitchFamily="18" charset="2"/>
            </a:pPr>
            <a:r>
              <a:rPr dirty="0"/>
              <a:t>When it comes to serving static content, Speed is slower.</a:t>
            </a:r>
            <a:endParaRPr dirty="0"/>
          </a:p>
          <a:p>
            <a:pPr>
              <a:buClr>
                <a:schemeClr val="accent1"/>
              </a:buClr>
              <a:buSzPct val="85000"/>
              <a:buFont typeface="Wingdings 2" panose="05020102010507070707" pitchFamily="18" charset="2"/>
            </a:pPr>
            <a:endParaRPr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itle 1"/>
          <p:cNvSpPr>
            <a:spLocks noGrp="1"/>
          </p:cNvSpPr>
          <p:nvPr>
            <p:ph type="title"/>
          </p:nvPr>
        </p:nvSpPr>
        <p:spPr>
          <a:xfrm>
            <a:off x="152400" y="274638"/>
            <a:ext cx="8534400" cy="1173162"/>
          </a:xfrm>
        </p:spPr>
        <p:txBody>
          <a:bodyPr vert="horz" wrap="square" lIns="91440" tIns="45720" rIns="91440" bIns="91440" anchor="b" anchorCtr="0"/>
          <a:p>
            <a:r>
              <a:rPr dirty="0"/>
              <a:t>What is Tomcat?</a:t>
            </a:r>
            <a:br>
              <a:rPr dirty="0"/>
            </a:br>
            <a:endParaRPr dirty="0"/>
          </a:p>
        </p:txBody>
      </p:sp>
      <p:sp>
        <p:nvSpPr>
          <p:cNvPr id="54275" name="Content Placeholder 2"/>
          <p:cNvSpPr>
            <a:spLocks noGrp="1"/>
          </p:cNvSpPr>
          <p:nvPr>
            <p:ph sz="quarter" idx="1"/>
          </p:nvPr>
        </p:nvSpPr>
        <p:spPr>
          <a:xfrm>
            <a:off x="228600" y="762000"/>
            <a:ext cx="8686800" cy="5867400"/>
          </a:xfrm>
        </p:spPr>
        <p:txBody>
          <a:bodyPr vert="horz" wrap="square" lIns="91440" tIns="45720" rIns="91440" bIns="45720" anchor="t" anchorCtr="0"/>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The complete name of Tomcat is </a:t>
            </a:r>
            <a:r>
              <a:rPr b="1" dirty="0"/>
              <a:t>"Apache Tomcat" </a:t>
            </a:r>
            <a:r>
              <a:rPr dirty="0"/>
              <a:t>it was developed in an open, participatory environment and </a:t>
            </a:r>
            <a:r>
              <a:rPr b="1" dirty="0"/>
              <a:t>released in 1998 for the very first time.</a:t>
            </a:r>
            <a:endParaRPr b="1" dirty="0"/>
          </a:p>
          <a:p>
            <a:pPr algn="just">
              <a:buClr>
                <a:schemeClr val="accent1"/>
              </a:buClr>
              <a:buSzPct val="85000"/>
              <a:buFont typeface="Wingdings 2" panose="05020102010507070707" pitchFamily="18" charset="2"/>
            </a:pPr>
            <a:endParaRPr b="1" dirty="0"/>
          </a:p>
          <a:p>
            <a:pPr algn="just">
              <a:buClr>
                <a:schemeClr val="accent1"/>
              </a:buClr>
              <a:buSzPct val="85000"/>
              <a:buFont typeface="Wingdings 2" panose="05020102010507070707" pitchFamily="18" charset="2"/>
            </a:pPr>
            <a:r>
              <a:rPr dirty="0"/>
              <a:t> It began as the reference </a:t>
            </a:r>
            <a:r>
              <a:rPr b="1" dirty="0"/>
              <a:t>implementation for the very first Java-Server Pages and the </a:t>
            </a:r>
            <a:r>
              <a:rPr b="1" dirty="0">
                <a:hlinkClick r:id="rId1"/>
              </a:rPr>
              <a:t>Java Servlet</a:t>
            </a:r>
            <a:r>
              <a:rPr b="1" dirty="0"/>
              <a:t> API.</a:t>
            </a:r>
            <a:endParaRPr b="1" dirty="0"/>
          </a:p>
          <a:p>
            <a:pPr algn="just">
              <a:buClr>
                <a:schemeClr val="accent1"/>
              </a:buClr>
              <a:buSzPct val="85000"/>
              <a:buFont typeface="Wingdings 2" panose="05020102010507070707" pitchFamily="18" charset="2"/>
            </a:pPr>
            <a:endParaRPr b="1" dirty="0"/>
          </a:p>
          <a:p>
            <a:pPr algn="just">
              <a:buClr>
                <a:schemeClr val="accent1"/>
              </a:buClr>
              <a:buSzPct val="85000"/>
              <a:buFont typeface="Wingdings 2" panose="05020102010507070707" pitchFamily="18" charset="2"/>
            </a:pPr>
            <a:r>
              <a:rPr dirty="0"/>
              <a:t> However, it no longer works as the reference implementation for both of these technologies, but it is considered as the first choice among the users even after that.</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itle 1"/>
          <p:cNvSpPr>
            <a:spLocks noGrp="1"/>
          </p:cNvSpPr>
          <p:nvPr>
            <p:ph type="title"/>
          </p:nvPr>
        </p:nvSpPr>
        <p:spPr>
          <a:xfrm>
            <a:off x="228600" y="274638"/>
            <a:ext cx="8686800" cy="1143000"/>
          </a:xfrm>
        </p:spPr>
        <p:txBody>
          <a:bodyPr vert="horz" wrap="square" lIns="91440" tIns="45720" rIns="91440" bIns="91440" anchor="b" anchorCtr="0"/>
          <a:p>
            <a:r>
              <a:rPr sz="2800" b="1" dirty="0"/>
              <a:t>what exactly is Apache tomcat?</a:t>
            </a:r>
            <a:br>
              <a:rPr dirty="0"/>
            </a:br>
            <a:endParaRPr dirty="0"/>
          </a:p>
        </p:txBody>
      </p:sp>
      <p:sp>
        <p:nvSpPr>
          <p:cNvPr id="55299" name="Content Placeholder 2"/>
          <p:cNvSpPr>
            <a:spLocks noGrp="1"/>
          </p:cNvSpPr>
          <p:nvPr>
            <p:ph sz="quarter" idx="1"/>
          </p:nvPr>
        </p:nvSpPr>
        <p:spPr>
          <a:xfrm>
            <a:off x="304800" y="990600"/>
            <a:ext cx="8610600" cy="54864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If you are a little familiar with the websites or have some basic knowledge about the websites, you must have heard about the </a:t>
            </a:r>
            <a:r>
              <a:rPr dirty="0">
                <a:hlinkClick r:id="rId1"/>
              </a:rPr>
              <a:t>HTTP protocol </a:t>
            </a:r>
            <a:r>
              <a:rPr dirty="0"/>
              <a:t>or may also know what actually are they. </a:t>
            </a:r>
            <a:endParaRPr dirty="0"/>
          </a:p>
          <a:p>
            <a:pPr algn="just">
              <a:buClr>
                <a:schemeClr val="accent1"/>
              </a:buClr>
              <a:buSzPct val="85000"/>
              <a:buFont typeface="Wingdings 2" panose="05020102010507070707" pitchFamily="18" charset="2"/>
            </a:pPr>
            <a:endParaRPr dirty="0">
              <a:hlinkClick r:id="rId1"/>
            </a:endParaRPr>
          </a:p>
          <a:p>
            <a:pPr algn="just">
              <a:buClr>
                <a:schemeClr val="accent1"/>
              </a:buClr>
              <a:buSzPct val="85000"/>
              <a:buFont typeface="Wingdings 2" panose="05020102010507070707" pitchFamily="18" charset="2"/>
            </a:pPr>
            <a:r>
              <a:rPr dirty="0"/>
              <a:t>If you want to provide any web-services such as you want to provide a simple static content possibly by using HTML (or Hypertext Markup Language), or maybe you just want to send data from a server to point you, so you necessarily need a server and that server is </a:t>
            </a:r>
            <a:r>
              <a:rPr dirty="0">
                <a:hlinkClick r:id="rId2"/>
              </a:rPr>
              <a:t>HTTP </a:t>
            </a:r>
            <a:r>
              <a:rPr dirty="0"/>
              <a:t>(HyperText transfer protocol).</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 So, as we all know that if anyone wants to make a simple, static website, he definitely requires an </a:t>
            </a:r>
            <a:r>
              <a:rPr dirty="0">
                <a:hlinkClick r:id="rId3"/>
              </a:rPr>
              <a:t>HTTP</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itle 1"/>
          <p:cNvSpPr>
            <a:spLocks noGrp="1"/>
          </p:cNvSpPr>
          <p:nvPr>
            <p:ph type="title"/>
          </p:nvPr>
        </p:nvSpPr>
        <p:spPr>
          <a:xfrm>
            <a:off x="304800" y="274638"/>
            <a:ext cx="8610600" cy="715962"/>
          </a:xfrm>
        </p:spPr>
        <p:txBody>
          <a:bodyPr vert="horz" wrap="square" lIns="91440" tIns="45720" rIns="91440" bIns="91440" anchor="b" anchorCtr="0"/>
          <a:p>
            <a:r>
              <a:rPr dirty="0"/>
              <a:t>What exactly is Apache tomcat?</a:t>
            </a:r>
            <a:endParaRPr dirty="0"/>
          </a:p>
        </p:txBody>
      </p:sp>
      <p:sp>
        <p:nvSpPr>
          <p:cNvPr id="56323" name="Content Placeholder 2"/>
          <p:cNvSpPr>
            <a:spLocks noGrp="1"/>
          </p:cNvSpPr>
          <p:nvPr>
            <p:ph sz="quarter" idx="1"/>
          </p:nvPr>
        </p:nvSpPr>
        <p:spPr>
          <a:xfrm>
            <a:off x="228600" y="1143000"/>
            <a:ext cx="8610600" cy="53340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Server, but if he wants to make website dynamic, he has to use servlet. We use the HTTP server if we want to send simple data.</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 If we want to send dynamic data or to make our website dynamic, we need to use the servlet. </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Hence, we need an HTTP server and what else we need is a container where we will run or servlet, so when we combine the </a:t>
            </a:r>
            <a:r>
              <a:rPr dirty="0">
                <a:hlinkClick r:id="rId1"/>
              </a:rPr>
              <a:t>HTTP</a:t>
            </a:r>
            <a:endParaRPr dirty="0">
              <a:hlinkClick r:id="rId1"/>
            </a:endParaRPr>
          </a:p>
          <a:p>
            <a:pPr algn="just">
              <a:buClr>
                <a:schemeClr val="accent1"/>
              </a:buClr>
              <a:buSzPct val="85000"/>
              <a:buFont typeface="Wingdings 2" panose="05020102010507070707" pitchFamily="18" charset="2"/>
            </a:pPr>
            <a:endParaRPr dirty="0">
              <a:hlinkClick r:id="rId1"/>
            </a:endParaRPr>
          </a:p>
          <a:p>
            <a:pPr algn="just">
              <a:buClr>
                <a:schemeClr val="accent1"/>
              </a:buClr>
              <a:buSzPct val="85000"/>
              <a:buFont typeface="Wingdings 2" panose="05020102010507070707" pitchFamily="18" charset="2"/>
            </a:pPr>
            <a:r>
              <a:rPr dirty="0"/>
              <a:t>Server and the servlet (or we can say servlet container), they both combine to become a single server know as tomcat server.</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itle 1"/>
          <p:cNvSpPr>
            <a:spLocks noGrp="1"/>
          </p:cNvSpPr>
          <p:nvPr>
            <p:ph type="title"/>
          </p:nvPr>
        </p:nvSpPr>
        <p:spPr>
          <a:xfrm>
            <a:off x="152400" y="274638"/>
            <a:ext cx="8839200" cy="1782762"/>
          </a:xfrm>
        </p:spPr>
        <p:txBody>
          <a:bodyPr vert="horz" wrap="square" lIns="91440" tIns="45720" rIns="91440" bIns="91440" anchor="b" anchorCtr="0"/>
          <a:p>
            <a:r>
              <a:rPr sz="3600" b="1" dirty="0"/>
              <a:t>Steps to download and install the Tomcat on </a:t>
            </a:r>
            <a:br>
              <a:rPr sz="3600" b="1" dirty="0"/>
            </a:br>
            <a:r>
              <a:rPr sz="3600" b="1" dirty="0">
                <a:hlinkClick r:id="rId1"/>
              </a:rPr>
              <a:t>Windows 10 operating  system</a:t>
            </a:r>
            <a:br>
              <a:rPr dirty="0"/>
            </a:br>
            <a:endParaRPr dirty="0"/>
          </a:p>
        </p:txBody>
      </p:sp>
      <p:sp>
        <p:nvSpPr>
          <p:cNvPr id="57347" name="Content Placeholder 2"/>
          <p:cNvSpPr>
            <a:spLocks noGrp="1"/>
          </p:cNvSpPr>
          <p:nvPr>
            <p:ph sz="quarter" idx="1"/>
          </p:nvPr>
        </p:nvSpPr>
        <p:spPr>
          <a:xfrm>
            <a:off x="381000" y="2362200"/>
            <a:ext cx="8382000" cy="4267200"/>
          </a:xfrm>
        </p:spPr>
        <p:txBody>
          <a:bodyPr vert="horz" wrap="square" lIns="91440" tIns="45720" rIns="91440" bIns="45720" anchor="t" anchorCtr="0"/>
          <a:p>
            <a:pPr algn="just">
              <a:buClr>
                <a:schemeClr val="accent1"/>
              </a:buClr>
              <a:buSzPct val="85000"/>
              <a:buFont typeface="Wingdings 2" panose="05020102010507070707" pitchFamily="18" charset="2"/>
            </a:pPr>
            <a:r>
              <a:rPr dirty="0"/>
              <a:t>There are many versions of the Tomcat available with different features on its website. </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You can choose the version according to your requirements, but we suggest you download the latest stable version.</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Content Placeholder 2"/>
          <p:cNvSpPr>
            <a:spLocks noGrp="1"/>
          </p:cNvSpPr>
          <p:nvPr>
            <p:ph sz="quarter" idx="1"/>
          </p:nvPr>
        </p:nvSpPr>
        <p:spPr>
          <a:xfrm>
            <a:off x="228600" y="609600"/>
            <a:ext cx="8686800" cy="60198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Step 1.</a:t>
            </a:r>
            <a:r>
              <a:rPr dirty="0"/>
              <a:t> </a:t>
            </a:r>
            <a:endParaRPr dirty="0"/>
          </a:p>
          <a:p>
            <a:pPr>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Open the </a:t>
            </a:r>
            <a:r>
              <a:rPr dirty="0">
                <a:hlinkClick r:id="rId1"/>
              </a:rPr>
              <a:t>Google Chrome</a:t>
            </a:r>
            <a:r>
              <a:rPr dirty="0"/>
              <a:t> or any of your web browser and type "download Tomcat for windows" in the search box. You can also go directly on Tomcat's website by clicking on this </a:t>
            </a:r>
            <a:r>
              <a:rPr dirty="0">
                <a:hlinkClick r:id="rId2"/>
              </a:rPr>
              <a:t>https://tomcat.apache.org/download-90.cgi#9.0.38</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itle 1"/>
          <p:cNvSpPr>
            <a:spLocks noGrp="1"/>
          </p:cNvSpPr>
          <p:nvPr>
            <p:ph type="title"/>
          </p:nvPr>
        </p:nvSpPr>
        <p:spPr>
          <a:xfrm>
            <a:off x="381000" y="274638"/>
            <a:ext cx="8305800" cy="1143000"/>
          </a:xfrm>
        </p:spPr>
        <p:txBody>
          <a:bodyPr vert="horz" wrap="square" lIns="91440" tIns="45720" rIns="91440" bIns="91440" anchor="b" anchorCtr="0"/>
          <a:p>
            <a:r>
              <a:rPr sz="3600" dirty="0"/>
              <a:t>Now download any version of Tomcat you want:</a:t>
            </a:r>
            <a:endParaRPr sz="3600" dirty="0"/>
          </a:p>
        </p:txBody>
      </p:sp>
      <p:pic>
        <p:nvPicPr>
          <p:cNvPr id="59395" name="Picture 2"/>
          <p:cNvPicPr>
            <a:picLocks noGrp="1" noChangeAspect="1"/>
          </p:cNvPicPr>
          <p:nvPr>
            <p:ph sz="quarter" idx="1"/>
          </p:nvPr>
        </p:nvPicPr>
        <p:blipFill>
          <a:blip r:embed="rId1"/>
          <a:srcRect/>
          <a:stretch>
            <a:fillRect/>
          </a:stretch>
        </p:blipFill>
        <p:spPr>
          <a:xfrm>
            <a:off x="304800" y="1524000"/>
            <a:ext cx="8610600" cy="4953000"/>
          </a:xfr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Content Placeholder 2"/>
          <p:cNvSpPr>
            <a:spLocks noGrp="1"/>
          </p:cNvSpPr>
          <p:nvPr>
            <p:ph sz="quarter" idx="1"/>
          </p:nvPr>
        </p:nvSpPr>
        <p:spPr>
          <a:xfrm>
            <a:off x="0" y="152400"/>
            <a:ext cx="8991600" cy="6705600"/>
          </a:xfrm>
        </p:spPr>
        <p:txBody>
          <a:bodyPr vert="horz" wrap="square" lIns="91440" tIns="45720" rIns="91440" bIns="45720" anchor="t" anchorCtr="0"/>
          <a:p>
            <a:pPr>
              <a:buClr>
                <a:schemeClr val="accent1"/>
              </a:buClr>
              <a:buSzPct val="85000"/>
              <a:buFont typeface="Wingdings 2" panose="05020102010507070707" pitchFamily="18" charset="2"/>
            </a:pPr>
            <a:endParaRPr b="1" dirty="0"/>
          </a:p>
          <a:p>
            <a:pPr>
              <a:buClr>
                <a:schemeClr val="accent1"/>
              </a:buClr>
              <a:buSzPct val="85000"/>
              <a:buFont typeface="Wingdings 2" panose="05020102010507070707" pitchFamily="18" charset="2"/>
            </a:pPr>
            <a:endParaRPr b="1" dirty="0"/>
          </a:p>
          <a:p>
            <a:pPr>
              <a:buClr>
                <a:schemeClr val="accent1"/>
              </a:buClr>
              <a:buSzPct val="85000"/>
              <a:buFont typeface="Wingdings 2" panose="05020102010507070707" pitchFamily="18" charset="2"/>
              <a:buNone/>
            </a:pPr>
            <a:r>
              <a:rPr b="1" dirty="0"/>
              <a:t>Step 2.</a:t>
            </a:r>
            <a:r>
              <a:rPr dirty="0"/>
              <a:t> </a:t>
            </a:r>
            <a:endParaRPr dirty="0"/>
          </a:p>
          <a:p>
            <a:pPr>
              <a:buClr>
                <a:schemeClr val="accent1"/>
              </a:buClr>
              <a:buSzPct val="85000"/>
              <a:buFont typeface="Wingdings 2" panose="05020102010507070707" pitchFamily="18" charset="2"/>
              <a:buNone/>
            </a:pPr>
            <a:r>
              <a:rPr dirty="0"/>
              <a:t>    Go to Download and click on the downloaded file and wait for little until the installation process starts.</a:t>
            </a:r>
            <a:endParaRPr dirty="0"/>
          </a:p>
          <a:p>
            <a:pPr>
              <a:buClr>
                <a:schemeClr val="accent1"/>
              </a:buClr>
              <a:buSzPct val="85000"/>
              <a:buFont typeface="Wingdings 2" panose="05020102010507070707" pitchFamily="18" charset="2"/>
              <a:buNone/>
            </a:pP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itle 1"/>
          <p:cNvSpPr>
            <a:spLocks noGrp="1"/>
          </p:cNvSpPr>
          <p:nvPr>
            <p:ph type="title"/>
          </p:nvPr>
        </p:nvSpPr>
        <p:spPr>
          <a:xfrm>
            <a:off x="228600" y="274638"/>
            <a:ext cx="8686800" cy="1630362"/>
          </a:xfrm>
        </p:spPr>
        <p:txBody>
          <a:bodyPr vert="horz" wrap="square" lIns="91440" tIns="45720" rIns="91440" bIns="91440" anchor="b" anchorCtr="0"/>
          <a:p>
            <a:r>
              <a:rPr sz="2800" b="1" dirty="0"/>
              <a:t>Step 3.</a:t>
            </a:r>
            <a:r>
              <a:rPr sz="2800" dirty="0"/>
              <a:t> Once the installation process gets started, click on the </a:t>
            </a:r>
            <a:r>
              <a:rPr sz="2800" b="1" dirty="0"/>
              <a:t>"Next"</a:t>
            </a:r>
            <a:r>
              <a:rPr sz="2800" dirty="0"/>
              <a:t> button, as shown below:</a:t>
            </a:r>
            <a:br>
              <a:rPr dirty="0"/>
            </a:br>
            <a:endParaRPr dirty="0"/>
          </a:p>
        </p:txBody>
      </p:sp>
      <p:pic>
        <p:nvPicPr>
          <p:cNvPr id="61443" name="Picture 2"/>
          <p:cNvPicPr>
            <a:picLocks noGrp="1" noChangeAspect="1"/>
          </p:cNvPicPr>
          <p:nvPr>
            <p:ph sz="quarter" idx="1"/>
          </p:nvPr>
        </p:nvPicPr>
        <p:blipFill>
          <a:blip r:embed="rId1"/>
          <a:srcRect/>
          <a:stretch>
            <a:fillRect/>
          </a:stretch>
        </p:blipFill>
        <p:spPr>
          <a:xfrm>
            <a:off x="228600" y="1295400"/>
            <a:ext cx="8686800" cy="5410200"/>
          </a:xfr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itle 1"/>
          <p:cNvSpPr>
            <a:spLocks noGrp="1"/>
          </p:cNvSpPr>
          <p:nvPr>
            <p:ph type="title"/>
          </p:nvPr>
        </p:nvSpPr>
        <p:spPr>
          <a:xfrm>
            <a:off x="304800" y="274638"/>
            <a:ext cx="8686800" cy="411162"/>
          </a:xfrm>
        </p:spPr>
        <p:txBody>
          <a:bodyPr vert="horz" wrap="square" lIns="91440" tIns="45720" rIns="91440" bIns="91440" anchor="b" anchorCtr="0"/>
          <a:p>
            <a:r>
              <a:rPr sz="2800" b="1" dirty="0"/>
              <a:t>Step 4.</a:t>
            </a:r>
            <a:r>
              <a:rPr sz="2800" dirty="0"/>
              <a:t> Click on the button labeled as </a:t>
            </a:r>
            <a:r>
              <a:rPr sz="2800" b="1" dirty="0"/>
              <a:t>"I Agree."</a:t>
            </a:r>
            <a:endParaRPr sz="2800" dirty="0"/>
          </a:p>
        </p:txBody>
      </p:sp>
      <p:pic>
        <p:nvPicPr>
          <p:cNvPr id="62467" name="Picture 2"/>
          <p:cNvPicPr>
            <a:picLocks noGrp="1" noChangeAspect="1"/>
          </p:cNvPicPr>
          <p:nvPr>
            <p:ph sz="quarter" idx="1"/>
          </p:nvPr>
        </p:nvPicPr>
        <p:blipFill>
          <a:blip r:embed="rId1"/>
          <a:srcRect/>
          <a:stretch>
            <a:fillRect/>
          </a:stretch>
        </p:blipFill>
        <p:spPr>
          <a:xfrm>
            <a:off x="152400" y="838200"/>
            <a:ext cx="8839200" cy="5867400"/>
          </a:xfr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itle 1"/>
          <p:cNvSpPr>
            <a:spLocks noGrp="1"/>
          </p:cNvSpPr>
          <p:nvPr>
            <p:ph type="title"/>
          </p:nvPr>
        </p:nvSpPr>
        <p:spPr>
          <a:xfrm>
            <a:off x="228600" y="274638"/>
            <a:ext cx="8686800" cy="715962"/>
          </a:xfrm>
        </p:spPr>
        <p:txBody>
          <a:bodyPr vert="horz" wrap="square" lIns="91440" tIns="45720" rIns="91440" bIns="91440" anchor="b" anchorCtr="0"/>
          <a:p>
            <a:r>
              <a:rPr b="1" dirty="0"/>
              <a:t>Step 5.</a:t>
            </a:r>
            <a:r>
              <a:rPr dirty="0"/>
              <a:t> Click on the </a:t>
            </a:r>
            <a:r>
              <a:rPr b="1" dirty="0"/>
              <a:t>"Next"</a:t>
            </a:r>
            <a:r>
              <a:rPr dirty="0"/>
              <a:t> button.</a:t>
            </a:r>
            <a:endParaRPr dirty="0"/>
          </a:p>
        </p:txBody>
      </p:sp>
      <p:pic>
        <p:nvPicPr>
          <p:cNvPr id="63491" name="Picture 2"/>
          <p:cNvPicPr>
            <a:picLocks noGrp="1" noChangeAspect="1"/>
          </p:cNvPicPr>
          <p:nvPr>
            <p:ph sz="quarter" idx="1"/>
          </p:nvPr>
        </p:nvPicPr>
        <p:blipFill>
          <a:blip r:embed="rId1"/>
          <a:srcRect/>
          <a:stretch>
            <a:fillRect/>
          </a:stretch>
        </p:blipFill>
        <p:spPr>
          <a:xfrm>
            <a:off x="152400" y="1143000"/>
            <a:ext cx="8839200" cy="5486400"/>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itle 1"/>
          <p:cNvSpPr>
            <a:spLocks noGrp="1"/>
          </p:cNvSpPr>
          <p:nvPr>
            <p:ph type="title"/>
          </p:nvPr>
        </p:nvSpPr>
        <p:spPr>
          <a:xfrm>
            <a:off x="304800" y="0"/>
            <a:ext cx="8610600" cy="1143000"/>
          </a:xfrm>
        </p:spPr>
        <p:txBody>
          <a:bodyPr vert="horz" wrap="square" lIns="91440" tIns="45720" rIns="91440" bIns="91440" anchor="b" anchorCtr="0"/>
          <a:p>
            <a:r>
              <a:rPr sz="2800" b="1" dirty="0"/>
              <a:t>Step 6.</a:t>
            </a:r>
            <a:r>
              <a:rPr sz="2800" dirty="0"/>
              <a:t> Enter the user name and password and click on the </a:t>
            </a:r>
            <a:r>
              <a:rPr sz="2800" b="1" dirty="0"/>
              <a:t>" Next"</a:t>
            </a:r>
            <a:r>
              <a:rPr sz="2800" dirty="0"/>
              <a:t> button, as shown below:</a:t>
            </a:r>
            <a:endParaRPr sz="2800" dirty="0"/>
          </a:p>
        </p:txBody>
      </p:sp>
      <p:pic>
        <p:nvPicPr>
          <p:cNvPr id="64515" name="Picture 2"/>
          <p:cNvPicPr>
            <a:picLocks noGrp="1" noChangeAspect="1"/>
          </p:cNvPicPr>
          <p:nvPr>
            <p:ph sz="quarter" idx="1"/>
          </p:nvPr>
        </p:nvPicPr>
        <p:blipFill>
          <a:blip r:embed="rId1"/>
          <a:srcRect/>
          <a:stretch>
            <a:fillRect/>
          </a:stretch>
        </p:blipFill>
        <p:spPr>
          <a:xfrm>
            <a:off x="152400" y="1295400"/>
            <a:ext cx="8839200" cy="5334000"/>
          </a:xfr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itle 1"/>
          <p:cNvSpPr>
            <a:spLocks noGrp="1"/>
          </p:cNvSpPr>
          <p:nvPr>
            <p:ph type="title"/>
          </p:nvPr>
        </p:nvSpPr>
        <p:spPr>
          <a:xfrm>
            <a:off x="228600" y="274638"/>
            <a:ext cx="8686800" cy="792162"/>
          </a:xfrm>
        </p:spPr>
        <p:txBody>
          <a:bodyPr vert="horz" wrap="square" lIns="91440" tIns="45720" rIns="91440" bIns="91440" anchor="b" anchorCtr="0"/>
          <a:p>
            <a:r>
              <a:rPr sz="2800" b="1" dirty="0"/>
              <a:t>Step 7.</a:t>
            </a:r>
            <a:r>
              <a:rPr sz="2800" dirty="0"/>
              <a:t> Then click on the </a:t>
            </a:r>
            <a:r>
              <a:rPr sz="2800" b="1" dirty="0"/>
              <a:t>"Next"</a:t>
            </a:r>
            <a:r>
              <a:rPr sz="2800" dirty="0"/>
              <a:t> button again</a:t>
            </a:r>
            <a:endParaRPr sz="2800" dirty="0"/>
          </a:p>
        </p:txBody>
      </p:sp>
      <p:pic>
        <p:nvPicPr>
          <p:cNvPr id="65539" name="Picture 2"/>
          <p:cNvPicPr>
            <a:picLocks noGrp="1" noChangeAspect="1"/>
          </p:cNvPicPr>
          <p:nvPr>
            <p:ph sz="quarter" idx="1"/>
          </p:nvPr>
        </p:nvPicPr>
        <p:blipFill>
          <a:blip r:embed="rId1"/>
          <a:srcRect/>
          <a:stretch>
            <a:fillRect/>
          </a:stretch>
        </p:blipFill>
        <p:spPr>
          <a:xfrm>
            <a:off x="152400" y="1219200"/>
            <a:ext cx="8763000" cy="5334000"/>
          </a:xfr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Title 1"/>
          <p:cNvSpPr>
            <a:spLocks noGrp="1"/>
          </p:cNvSpPr>
          <p:nvPr>
            <p:ph type="title"/>
          </p:nvPr>
        </p:nvSpPr>
        <p:spPr>
          <a:xfrm>
            <a:off x="228600" y="274638"/>
            <a:ext cx="8686800" cy="487362"/>
          </a:xfrm>
        </p:spPr>
        <p:txBody>
          <a:bodyPr vert="horz" wrap="square" lIns="91440" tIns="45720" rIns="91440" bIns="91440" anchor="b" anchorCtr="0"/>
          <a:p>
            <a:r>
              <a:rPr sz="2800" b="1" dirty="0"/>
              <a:t>Step 8.</a:t>
            </a:r>
            <a:r>
              <a:rPr sz="2800" dirty="0"/>
              <a:t> Now click on the </a:t>
            </a:r>
            <a:r>
              <a:rPr sz="2800" b="1" dirty="0"/>
              <a:t>"Install"</a:t>
            </a:r>
            <a:r>
              <a:rPr sz="2800" dirty="0"/>
              <a:t> button.</a:t>
            </a:r>
            <a:endParaRPr sz="2800" dirty="0"/>
          </a:p>
        </p:txBody>
      </p:sp>
      <p:pic>
        <p:nvPicPr>
          <p:cNvPr id="66563" name="Picture 2"/>
          <p:cNvPicPr>
            <a:picLocks noGrp="1" noChangeAspect="1"/>
          </p:cNvPicPr>
          <p:nvPr>
            <p:ph sz="quarter" idx="1"/>
          </p:nvPr>
        </p:nvPicPr>
        <p:blipFill>
          <a:blip r:embed="rId1"/>
          <a:srcRect/>
          <a:stretch>
            <a:fillRect/>
          </a:stretch>
        </p:blipFill>
        <p:spPr>
          <a:xfrm>
            <a:off x="304800" y="990600"/>
            <a:ext cx="8610600" cy="5562600"/>
          </a:xfr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Title 1"/>
          <p:cNvSpPr>
            <a:spLocks noGrp="1"/>
          </p:cNvSpPr>
          <p:nvPr>
            <p:ph type="title"/>
          </p:nvPr>
        </p:nvSpPr>
        <p:spPr>
          <a:xfrm>
            <a:off x="304800" y="274638"/>
            <a:ext cx="8382000" cy="487362"/>
          </a:xfrm>
        </p:spPr>
        <p:txBody>
          <a:bodyPr vert="horz" wrap="square" lIns="91440" tIns="45720" rIns="91440" bIns="91440" anchor="b" anchorCtr="0"/>
          <a:p>
            <a:r>
              <a:rPr sz="2800" dirty="0"/>
              <a:t>Wait for some time until the Tomcat gets installed.</a:t>
            </a:r>
            <a:endParaRPr sz="2800" dirty="0"/>
          </a:p>
        </p:txBody>
      </p:sp>
      <p:pic>
        <p:nvPicPr>
          <p:cNvPr id="67587" name="Picture 2"/>
          <p:cNvPicPr>
            <a:picLocks noGrp="1" noChangeAspect="1"/>
          </p:cNvPicPr>
          <p:nvPr>
            <p:ph sz="quarter" idx="1"/>
          </p:nvPr>
        </p:nvPicPr>
        <p:blipFill>
          <a:blip r:embed="rId1"/>
          <a:srcRect/>
          <a:stretch>
            <a:fillRect/>
          </a:stretch>
        </p:blipFill>
        <p:spPr>
          <a:xfrm>
            <a:off x="152400" y="914400"/>
            <a:ext cx="8763000" cy="5715000"/>
          </a:xfr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Content Placeholder 2"/>
          <p:cNvSpPr>
            <a:spLocks noGrp="1"/>
          </p:cNvSpPr>
          <p:nvPr>
            <p:ph sz="quarter" idx="1"/>
          </p:nvPr>
        </p:nvSpPr>
        <p:spPr>
          <a:xfrm>
            <a:off x="152400" y="304800"/>
            <a:ext cx="8763000" cy="6324600"/>
          </a:xfrm>
        </p:spPr>
        <p:txBody>
          <a:bodyPr vert="horz" wrap="square" lIns="91440" tIns="45720" rIns="91440" bIns="45720" anchor="t" anchorCtr="0"/>
          <a:p>
            <a:pPr>
              <a:buClr>
                <a:schemeClr val="accent1"/>
              </a:buClr>
              <a:buSzPct val="85000"/>
              <a:buFont typeface="Wingdings 2" panose="05020102010507070707" pitchFamily="18" charset="2"/>
              <a:buNone/>
            </a:pPr>
            <a:r>
              <a:rPr sz="2400" b="1" dirty="0"/>
              <a:t>Step 9.</a:t>
            </a:r>
            <a:r>
              <a:rPr sz="2400" dirty="0"/>
              <a:t> </a:t>
            </a:r>
            <a:endParaRPr sz="2400" dirty="0"/>
          </a:p>
          <a:p>
            <a:pPr algn="just">
              <a:buClr>
                <a:schemeClr val="accent1"/>
              </a:buClr>
              <a:buSzPct val="85000"/>
              <a:buFont typeface="Wingdings 2" panose="05020102010507070707" pitchFamily="18" charset="2"/>
            </a:pPr>
            <a:endParaRPr sz="2400" dirty="0"/>
          </a:p>
          <a:p>
            <a:pPr algn="just">
              <a:buClr>
                <a:schemeClr val="accent1"/>
              </a:buClr>
              <a:buSzPct val="85000"/>
              <a:buFont typeface="Wingdings 2" panose="05020102010507070707" pitchFamily="18" charset="2"/>
            </a:pPr>
            <a:r>
              <a:rPr sz="2400" dirty="0"/>
              <a:t>Now click on the </a:t>
            </a:r>
            <a:r>
              <a:rPr sz="2400" b="1" dirty="0"/>
              <a:t>"Finish"</a:t>
            </a:r>
            <a:r>
              <a:rPr sz="2400" dirty="0"/>
              <a:t> button, here the installation of Tomcat is completed. </a:t>
            </a:r>
            <a:endParaRPr sz="2400" dirty="0"/>
          </a:p>
          <a:p>
            <a:pPr algn="just">
              <a:buClr>
                <a:schemeClr val="accent1"/>
              </a:buClr>
              <a:buSzPct val="85000"/>
              <a:buFont typeface="Wingdings 2" panose="05020102010507070707" pitchFamily="18" charset="2"/>
            </a:pPr>
            <a:endParaRPr sz="2400" dirty="0"/>
          </a:p>
          <a:p>
            <a:pPr algn="just">
              <a:buClr>
                <a:schemeClr val="accent1"/>
              </a:buClr>
              <a:buSzPct val="85000"/>
              <a:buFont typeface="Wingdings 2" panose="05020102010507070707" pitchFamily="18" charset="2"/>
            </a:pPr>
            <a:r>
              <a:rPr sz="2400" dirty="0"/>
              <a:t>It may ask you to restart your system, so restart your system.</a:t>
            </a:r>
            <a:br>
              <a:rPr sz="2400" dirty="0"/>
            </a:br>
            <a:r>
              <a:rPr sz="2400" dirty="0"/>
              <a:t>Now you can start the Tomcat by clicking on its icon, and you can start and stop the server.</a:t>
            </a:r>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4" name="Picture 2"/>
          <p:cNvPicPr>
            <a:picLocks noGrp="1" noChangeAspect="1"/>
          </p:cNvPicPr>
          <p:nvPr>
            <p:ph sz="quarter" idx="1"/>
          </p:nvPr>
        </p:nvPicPr>
        <p:blipFill>
          <a:blip r:embed="rId1"/>
          <a:srcRect/>
          <a:stretch>
            <a:fillRect/>
          </a:stretch>
        </p:blipFill>
        <p:spPr>
          <a:xfrm>
            <a:off x="228600" y="457200"/>
            <a:ext cx="8610600" cy="5867400"/>
          </a:xfr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Title 1"/>
          <p:cNvSpPr>
            <a:spLocks noGrp="1"/>
          </p:cNvSpPr>
          <p:nvPr>
            <p:ph type="title"/>
          </p:nvPr>
        </p:nvSpPr>
        <p:spPr>
          <a:xfrm>
            <a:off x="304800" y="274638"/>
            <a:ext cx="8382000" cy="1096962"/>
          </a:xfrm>
        </p:spPr>
        <p:txBody>
          <a:bodyPr vert="horz" wrap="square" lIns="91440" tIns="45720" rIns="91440" bIns="91440" anchor="b" anchorCtr="0"/>
          <a:p>
            <a:r>
              <a:rPr dirty="0"/>
              <a:t>Advantages of Tomcat:</a:t>
            </a:r>
            <a:br>
              <a:rPr dirty="0"/>
            </a:br>
            <a:endParaRPr dirty="0"/>
          </a:p>
        </p:txBody>
      </p:sp>
      <p:sp>
        <p:nvSpPr>
          <p:cNvPr id="70659" name="Content Placeholder 2"/>
          <p:cNvSpPr>
            <a:spLocks noGrp="1"/>
          </p:cNvSpPr>
          <p:nvPr>
            <p:ph sz="quarter" idx="1"/>
          </p:nvPr>
        </p:nvSpPr>
        <p:spPr>
          <a:xfrm>
            <a:off x="152400" y="838200"/>
            <a:ext cx="8763000" cy="57150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1. It is open-source</a:t>
            </a:r>
            <a:br>
              <a:rPr dirty="0"/>
            </a:br>
            <a:r>
              <a:rPr dirty="0"/>
              <a:t>It means anyone from anywhere can download, install, and use it free of cost, which makes it the first choice among the new developers and new users.</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2. Incredibly Lightweight</a:t>
            </a:r>
            <a:endParaRPr b="1" dirty="0"/>
          </a:p>
          <a:p>
            <a:pPr algn="just">
              <a:buClr>
                <a:schemeClr val="accent1"/>
              </a:buClr>
              <a:buSzPct val="85000"/>
              <a:buFont typeface="Wingdings 2" panose="05020102010507070707" pitchFamily="18" charset="2"/>
            </a:pPr>
            <a:r>
              <a:rPr dirty="0"/>
              <a:t>It is actually a very light application, even with the JavaEE's certification.</a:t>
            </a:r>
            <a:endParaRPr dirty="0"/>
          </a:p>
          <a:p>
            <a:pPr algn="just">
              <a:buClr>
                <a:schemeClr val="accent1"/>
              </a:buClr>
              <a:buSzPct val="85000"/>
              <a:buFont typeface="Wingdings 2" panose="05020102010507070707" pitchFamily="18" charset="2"/>
            </a:pPr>
            <a:r>
              <a:rPr dirty="0"/>
              <a:t> However, it provides all necessary and standard functionalities required to operate a server, which means it gives very fast load and redeploys as compared to its various alternatives.</a:t>
            </a:r>
            <a:br>
              <a:rPr dirty="0"/>
            </a:b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Title 1"/>
          <p:cNvSpPr>
            <a:spLocks noGrp="1"/>
          </p:cNvSpPr>
          <p:nvPr>
            <p:ph type="title"/>
          </p:nvPr>
        </p:nvSpPr>
        <p:spPr>
          <a:xfrm>
            <a:off x="304800" y="274638"/>
            <a:ext cx="8382000" cy="1096962"/>
          </a:xfrm>
        </p:spPr>
        <p:txBody>
          <a:bodyPr vert="horz" wrap="square" lIns="91440" tIns="45720" rIns="91440" bIns="91440" anchor="b" anchorCtr="0"/>
          <a:p>
            <a:r>
              <a:rPr dirty="0"/>
              <a:t>Advantages of Tomcat:</a:t>
            </a:r>
            <a:br>
              <a:rPr dirty="0"/>
            </a:br>
            <a:endParaRPr dirty="0"/>
          </a:p>
        </p:txBody>
      </p:sp>
      <p:sp>
        <p:nvSpPr>
          <p:cNvPr id="71683" name="Content Placeholder 2"/>
          <p:cNvSpPr>
            <a:spLocks noGrp="1"/>
          </p:cNvSpPr>
          <p:nvPr>
            <p:ph sz="quarter" idx="1"/>
          </p:nvPr>
        </p:nvSpPr>
        <p:spPr>
          <a:xfrm>
            <a:off x="152400" y="838200"/>
            <a:ext cx="8763000" cy="57150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3. Highly flexible</a:t>
            </a:r>
            <a:endParaRPr b="1" dirty="0"/>
          </a:p>
          <a:p>
            <a:pPr>
              <a:buClr>
                <a:schemeClr val="accent1"/>
              </a:buClr>
              <a:buSzPct val="85000"/>
              <a:buFont typeface="Wingdings 2" panose="05020102010507070707" pitchFamily="18" charset="2"/>
              <a:buNone/>
            </a:pPr>
            <a:endParaRPr b="1" dirty="0"/>
          </a:p>
          <a:p>
            <a:pPr algn="just">
              <a:buClr>
                <a:schemeClr val="accent1"/>
              </a:buClr>
              <a:buSzPct val="85000"/>
              <a:buFont typeface="Wingdings 2" panose="05020102010507070707" pitchFamily="18" charset="2"/>
            </a:pPr>
            <a:r>
              <a:rPr dirty="0"/>
              <a:t>Due to its built-in customization options, extensive and lightweight nature, it offers high flexibility, a user can run it in any fashion he wants, and it will still work as fine without any issues. </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buNone/>
            </a:pPr>
            <a:r>
              <a:rPr b="1" dirty="0"/>
              <a:t>4. Stability</a:t>
            </a:r>
            <a:endParaRPr b="1" dirty="0"/>
          </a:p>
          <a:p>
            <a:pPr>
              <a:buClr>
                <a:schemeClr val="accent1"/>
              </a:buClr>
              <a:buSzPct val="85000"/>
              <a:buFont typeface="Wingdings 2" panose="05020102010507070707" pitchFamily="18" charset="2"/>
              <a:buNone/>
            </a:pPr>
            <a:endParaRPr b="1" dirty="0"/>
          </a:p>
          <a:p>
            <a:pPr algn="just">
              <a:buClr>
                <a:schemeClr val="accent1"/>
              </a:buClr>
              <a:buSzPct val="85000"/>
              <a:buFont typeface="Wingdings 2" panose="05020102010507070707" pitchFamily="18" charset="2"/>
            </a:pPr>
            <a:r>
              <a:rPr dirty="0"/>
              <a:t>It is one of the most stable platforms available today to build on and using it to run our applications. </a:t>
            </a:r>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itle 1"/>
          <p:cNvSpPr>
            <a:spLocks noGrp="1"/>
          </p:cNvSpPr>
          <p:nvPr>
            <p:ph type="title"/>
          </p:nvPr>
        </p:nvSpPr>
        <p:spPr>
          <a:xfrm>
            <a:off x="304800" y="274638"/>
            <a:ext cx="8382000" cy="1096962"/>
          </a:xfrm>
        </p:spPr>
        <p:txBody>
          <a:bodyPr vert="horz" wrap="square" lIns="91440" tIns="45720" rIns="91440" bIns="91440" anchor="b" anchorCtr="0"/>
          <a:p>
            <a:r>
              <a:rPr dirty="0"/>
              <a:t>Advantages of Tomcat:</a:t>
            </a:r>
            <a:br>
              <a:rPr dirty="0"/>
            </a:br>
            <a:endParaRPr dirty="0"/>
          </a:p>
        </p:txBody>
      </p:sp>
      <p:sp>
        <p:nvSpPr>
          <p:cNvPr id="72707" name="Content Placeholder 2"/>
          <p:cNvSpPr>
            <a:spLocks noGrp="1"/>
          </p:cNvSpPr>
          <p:nvPr>
            <p:ph sz="quarter" idx="1"/>
          </p:nvPr>
        </p:nvSpPr>
        <p:spPr>
          <a:xfrm>
            <a:off x="152400" y="838200"/>
            <a:ext cx="8763000" cy="5715000"/>
          </a:xfrm>
        </p:spPr>
        <p:txBody>
          <a:bodyPr vert="horz" wrap="square" lIns="91440" tIns="45720" rIns="91440" bIns="45720" anchor="t" anchorCtr="0"/>
          <a:p>
            <a:pPr algn="just">
              <a:buClr>
                <a:schemeClr val="accent1"/>
              </a:buClr>
              <a:buSzPct val="85000"/>
              <a:buFont typeface="Wingdings 2" panose="05020102010507070707" pitchFamily="18" charset="2"/>
              <a:buNone/>
            </a:pPr>
            <a:r>
              <a:rPr b="1" dirty="0"/>
              <a:t>5. It is one of the most widely used application servers</a:t>
            </a:r>
            <a:br>
              <a:rPr dirty="0"/>
            </a:br>
            <a:r>
              <a:rPr dirty="0"/>
              <a:t>According to an estimation, it holds almost 60 percent of the market share almost all java application server deployments, which makes it one of the most popular application servers used for java web-based applications.</a:t>
            </a:r>
            <a:endParaRPr dirty="0"/>
          </a:p>
          <a:p>
            <a:pPr algn="just">
              <a:buClr>
                <a:schemeClr val="accent1"/>
              </a:buClr>
              <a:buSzPct val="85000"/>
              <a:buFont typeface="Wingdings 2" panose="05020102010507070707" pitchFamily="18" charset="2"/>
              <a:buNone/>
            </a:pPr>
            <a:endParaRPr dirty="0"/>
          </a:p>
          <a:p>
            <a:pPr algn="just">
              <a:buClr>
                <a:schemeClr val="accent1"/>
              </a:buClr>
              <a:buSzPct val="85000"/>
              <a:buFont typeface="Wingdings 2" panose="05020102010507070707" pitchFamily="18" charset="2"/>
            </a:pPr>
            <a:r>
              <a:rPr dirty="0"/>
              <a:t> However, we cannot say that it implements all of the features required for a JavaEE application server; instead, it enables us to run Java EE application.</a:t>
            </a:r>
            <a:endParaRPr dirty="0"/>
          </a:p>
          <a:p>
            <a:pPr algn="just">
              <a:buClr>
                <a:schemeClr val="accent1"/>
              </a:buClr>
              <a:buSzPct val="85000"/>
              <a:buFont typeface="Wingdings 2" panose="05020102010507070707" pitchFamily="18" charset="2"/>
            </a:pPr>
            <a:endParaRPr dirty="0"/>
          </a:p>
          <a:p>
            <a:pPr algn="just">
              <a:buClr>
                <a:schemeClr val="accent1"/>
              </a:buClr>
              <a:buSzPct val="85000"/>
              <a:buFont typeface="Wingdings 2" panose="05020102010507070707" pitchFamily="18" charset="2"/>
            </a:pPr>
            <a:r>
              <a:rPr dirty="0"/>
              <a:t>Tomcat acts as a "webserver" or "servlet container." However, there is a plethora of terminology for anything.</a:t>
            </a:r>
            <a:endParaRP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Title 1"/>
          <p:cNvSpPr>
            <a:spLocks noGrp="1"/>
          </p:cNvSpPr>
          <p:nvPr>
            <p:ph type="title"/>
          </p:nvPr>
        </p:nvSpPr>
        <p:spPr>
          <a:xfrm>
            <a:off x="304800" y="274638"/>
            <a:ext cx="8382000" cy="1096962"/>
          </a:xfrm>
        </p:spPr>
        <p:txBody>
          <a:bodyPr vert="horz" wrap="square" lIns="91440" tIns="45720" rIns="91440" bIns="91440" anchor="b" anchorCtr="0"/>
          <a:p>
            <a:r>
              <a:rPr dirty="0"/>
              <a:t>Advantages of Tomcat:</a:t>
            </a:r>
            <a:br>
              <a:rPr dirty="0"/>
            </a:br>
            <a:endParaRPr dirty="0"/>
          </a:p>
        </p:txBody>
      </p:sp>
      <p:sp>
        <p:nvSpPr>
          <p:cNvPr id="73731" name="Content Placeholder 2"/>
          <p:cNvSpPr>
            <a:spLocks noGrp="1"/>
          </p:cNvSpPr>
          <p:nvPr>
            <p:ph sz="quarter" idx="1"/>
          </p:nvPr>
        </p:nvSpPr>
        <p:spPr>
          <a:xfrm>
            <a:off x="152400" y="838200"/>
            <a:ext cx="8763000" cy="5715000"/>
          </a:xfrm>
        </p:spPr>
        <p:txBody>
          <a:bodyPr vert="horz" wrap="square" lIns="91440" tIns="45720" rIns="91440" bIns="45720" anchor="t" anchorCtr="0"/>
          <a:p>
            <a:pPr>
              <a:buClr>
                <a:schemeClr val="accent1"/>
              </a:buClr>
              <a:buSzPct val="85000"/>
              <a:buFont typeface="Wingdings 2" panose="05020102010507070707" pitchFamily="18" charset="2"/>
              <a:buNone/>
            </a:pPr>
            <a:r>
              <a:rPr b="1" dirty="0"/>
              <a:t>6. It is open-source</a:t>
            </a:r>
            <a:br>
              <a:rPr dirty="0"/>
            </a:br>
            <a:r>
              <a:rPr dirty="0"/>
              <a:t>It means anyone from anywhere can download, install, and use it free of cost, which makes it the first choice among the new developers and new users.</a:t>
            </a:r>
            <a:endParaRPr dirty="0"/>
          </a:p>
          <a:p>
            <a:pPr>
              <a:buClr>
                <a:schemeClr val="accent1"/>
              </a:buClr>
              <a:buSzPct val="85000"/>
              <a:buFont typeface="Wingdings 2" panose="05020102010507070707" pitchFamily="18" charset="2"/>
              <a:buNone/>
            </a:pPr>
            <a:r>
              <a:rPr b="1" dirty="0"/>
              <a:t>7. Incredibly Lightweight</a:t>
            </a:r>
            <a:br>
              <a:rPr dirty="0"/>
            </a:br>
            <a:r>
              <a:rPr dirty="0"/>
              <a:t>It is actually a very light application, even with the JavaEE's certification. However, it provides all necessary and standard functionalities required to operate a server, which means it gives very fast load and redeploys as compared to its various alternatives.</a:t>
            </a:r>
            <a:br>
              <a:rPr dirty="0"/>
            </a:br>
            <a:r>
              <a:rPr dirty="0"/>
              <a:t>Yes, it is right that it does not offer so many features in case you want a number of features, it might be good for you, but if you want to have an easy and fast means in order to run your application, it is the best option for you.</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Title 1"/>
          <p:cNvSpPr>
            <a:spLocks noGrp="1"/>
          </p:cNvSpPr>
          <p:nvPr>
            <p:ph type="title"/>
          </p:nvPr>
        </p:nvSpPr>
        <p:spPr>
          <a:xfrm>
            <a:off x="304800" y="274638"/>
            <a:ext cx="8382000" cy="1020762"/>
          </a:xfrm>
        </p:spPr>
        <p:txBody>
          <a:bodyPr vert="horz" wrap="square" lIns="91440" tIns="45720" rIns="91440" bIns="91440" anchor="b" anchorCtr="0"/>
          <a:p>
            <a:r>
              <a:rPr dirty="0"/>
              <a:t>Advantages of Tomcat:</a:t>
            </a:r>
            <a:endParaRPr dirty="0"/>
          </a:p>
        </p:txBody>
      </p:sp>
      <p:sp>
        <p:nvSpPr>
          <p:cNvPr id="74755" name="Content Placeholder 2"/>
          <p:cNvSpPr>
            <a:spLocks noGrp="1"/>
          </p:cNvSpPr>
          <p:nvPr>
            <p:ph sz="quarter" idx="1"/>
          </p:nvPr>
        </p:nvSpPr>
        <p:spPr>
          <a:xfrm>
            <a:off x="228600" y="1447800"/>
            <a:ext cx="8763000" cy="5181600"/>
          </a:xfrm>
        </p:spPr>
        <p:txBody>
          <a:bodyPr vert="horz" wrap="square" lIns="91440" tIns="45720" rIns="91440" bIns="45720" anchor="t" anchorCtr="0"/>
          <a:p>
            <a:pPr>
              <a:buClr>
                <a:schemeClr val="accent1"/>
              </a:buClr>
              <a:buSzPct val="85000"/>
              <a:buFont typeface="Wingdings 2" panose="05020102010507070707" pitchFamily="18" charset="2"/>
            </a:pPr>
            <a:r>
              <a:rPr b="1" dirty="0"/>
              <a:t>It's mature</a:t>
            </a:r>
            <a:br>
              <a:rPr dirty="0"/>
            </a:br>
            <a:r>
              <a:rPr dirty="0"/>
              <a:t>We take a look back in the past; we will find that it has existed for almost 20 years, which is quite a significant time, in which it gets mature over time passage. </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itle 1"/>
          <p:cNvSpPr>
            <a:spLocks noGrp="1"/>
          </p:cNvSpPr>
          <p:nvPr>
            <p:ph type="title"/>
          </p:nvPr>
        </p:nvSpPr>
        <p:spPr>
          <a:xfrm>
            <a:off x="228600" y="274638"/>
            <a:ext cx="8686800" cy="1143000"/>
          </a:xfrm>
        </p:spPr>
        <p:txBody>
          <a:bodyPr vert="horz" wrap="square" lIns="91440" tIns="45720" rIns="91440" bIns="91440" anchor="b" anchorCtr="0"/>
          <a:p>
            <a:r>
              <a:rPr sz="3600" dirty="0"/>
              <a:t>Disadvantages of Tomcat</a:t>
            </a:r>
            <a:br>
              <a:rPr dirty="0"/>
            </a:br>
            <a:endParaRPr dirty="0"/>
          </a:p>
        </p:txBody>
      </p:sp>
      <p:sp>
        <p:nvSpPr>
          <p:cNvPr id="75779" name="Content Placeholder 2"/>
          <p:cNvSpPr>
            <a:spLocks noGrp="1"/>
          </p:cNvSpPr>
          <p:nvPr>
            <p:ph sz="quarter" idx="1"/>
          </p:nvPr>
        </p:nvSpPr>
        <p:spPr>
          <a:xfrm>
            <a:off x="457200" y="1066800"/>
            <a:ext cx="8153400" cy="5486400"/>
          </a:xfrm>
        </p:spPr>
        <p:txBody>
          <a:bodyPr vert="horz" wrap="square" lIns="91440" tIns="45720" rIns="91440" bIns="45720" anchor="t" anchorCtr="0"/>
          <a:p>
            <a:pPr>
              <a:buClr>
                <a:schemeClr val="accent1"/>
              </a:buClr>
              <a:buSzPct val="85000"/>
              <a:buFont typeface="Wingdings 2" panose="05020102010507070707" pitchFamily="18" charset="2"/>
            </a:pPr>
            <a:r>
              <a:rPr dirty="0"/>
              <a:t>It is not as fast as the Apache if we are working with the static pages</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It has some issues like a memory leak</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It's way to handle the logs.</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Issues in the SSL installations</a:t>
            </a:r>
            <a:endParaRPr dirty="0"/>
          </a:p>
          <a:p>
            <a:pPr>
              <a:buClr>
                <a:schemeClr val="accent1"/>
              </a:buClr>
              <a:buSzPct val="85000"/>
              <a:buFont typeface="Wingdings 2" panose="05020102010507070707" pitchFamily="18" charset="2"/>
            </a:pPr>
            <a:endParaRPr dirty="0"/>
          </a:p>
          <a:p>
            <a:pPr>
              <a:buClr>
                <a:schemeClr val="accent1"/>
              </a:buClr>
              <a:buSzPct val="85000"/>
              <a:buFont typeface="Wingdings 2" panose="05020102010507070707" pitchFamily="18" charset="2"/>
            </a:pPr>
            <a:r>
              <a:rPr dirty="0"/>
              <a:t>Its user interface is inferior and basic.</a:t>
            </a:r>
            <a:endParaRPr dirty="0"/>
          </a:p>
          <a:p>
            <a:pPr>
              <a:buClr>
                <a:schemeClr val="accent1"/>
              </a:buClr>
              <a:buSzPct val="85000"/>
              <a:buFont typeface="Wingdings 2" panose="05020102010507070707" pitchFamily="18" charset="2"/>
            </a:pPr>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Content Placeholder 2"/>
          <p:cNvSpPr>
            <a:spLocks noGrp="1"/>
          </p:cNvSpPr>
          <p:nvPr>
            <p:ph sz="quarter" idx="1"/>
          </p:nvPr>
        </p:nvSpPr>
        <p:spPr>
          <a:xfrm>
            <a:off x="152400" y="762000"/>
            <a:ext cx="8991600" cy="5181600"/>
          </a:xfrm>
        </p:spPr>
        <p:txBody>
          <a:bodyPr vert="horz" wrap="square" lIns="91440" tIns="45720" rIns="91440" bIns="45720" anchor="t" anchorCtr="0"/>
          <a:p>
            <a:pPr eaLnBrk="1" hangingPunct="1">
              <a:buClr>
                <a:schemeClr val="accent1"/>
              </a:buClr>
              <a:buSzPct val="85000"/>
              <a:buFont typeface="Wingdings 2" panose="05020102010507070707" pitchFamily="18" charset="2"/>
              <a:buNone/>
            </a:pPr>
            <a:endParaRPr sz="9600" dirty="0"/>
          </a:p>
          <a:p>
            <a:pPr eaLnBrk="1" hangingPunct="1">
              <a:buClr>
                <a:schemeClr val="accent1"/>
              </a:buClr>
              <a:buSzPct val="85000"/>
              <a:buFont typeface="Wingdings 2" panose="05020102010507070707" pitchFamily="18" charset="2"/>
              <a:buNone/>
            </a:pPr>
            <a:r>
              <a:rPr sz="9600" dirty="0"/>
              <a:t>       Thank    You</a:t>
            </a:r>
            <a:endParaRPr sz="96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0</TotalTime>
  <Words>21182</Words>
  <Application>WPS Presentation</Application>
  <PresentationFormat>On-screen Show (4:3)</PresentationFormat>
  <Paragraphs>656</Paragraphs>
  <Slides>75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75</vt:i4>
      </vt:variant>
    </vt:vector>
  </HeadingPairs>
  <TitlesOfParts>
    <vt:vector size="90" baseType="lpstr">
      <vt:lpstr>Arial</vt:lpstr>
      <vt:lpstr>SimSun</vt:lpstr>
      <vt:lpstr>Wingdings</vt:lpstr>
      <vt:lpstr>Franklin Gothic Book</vt:lpstr>
      <vt:lpstr>Wingdings 2</vt:lpstr>
      <vt:lpstr>Perpetua</vt:lpstr>
      <vt:lpstr>Microsoft YaHei</vt:lpstr>
      <vt:lpstr>Arial Unicode MS</vt:lpstr>
      <vt:lpstr>Calibri</vt:lpstr>
      <vt:lpstr>Times New Roman</vt:lpstr>
      <vt:lpstr>inter-regular</vt:lpstr>
      <vt:lpstr>Segoe Print</vt:lpstr>
      <vt:lpstr>inter-bold</vt:lpstr>
      <vt:lpstr>Times New Roman</vt:lpstr>
      <vt:lpstr>Equity</vt:lpstr>
      <vt:lpstr>Module 3</vt:lpstr>
      <vt:lpstr>Servlet</vt:lpstr>
      <vt:lpstr>What is Servlet?</vt:lpstr>
      <vt:lpstr>Servlet</vt:lpstr>
      <vt:lpstr>PowerPoint 演示文稿</vt:lpstr>
      <vt:lpstr>CGI  Vs. Servlet</vt:lpstr>
      <vt:lpstr>Advantages of Servlet</vt:lpstr>
      <vt:lpstr>Advantages of Servlet </vt:lpstr>
      <vt:lpstr>Disadvantages of Servlet</vt:lpstr>
      <vt:lpstr>Java  Servlet  Architecture </vt:lpstr>
      <vt:lpstr>Components of Sevlet Architecture</vt:lpstr>
      <vt:lpstr>PowerPoint 演示文稿</vt:lpstr>
      <vt:lpstr>PowerPoint 演示文稿</vt:lpstr>
      <vt:lpstr>Architecture of package </vt:lpstr>
      <vt:lpstr>Servlet Interface</vt:lpstr>
      <vt:lpstr>2.Generic Servlet</vt:lpstr>
      <vt:lpstr>3. HTTP Servlet</vt:lpstr>
      <vt:lpstr>MyServlet</vt:lpstr>
      <vt:lpstr>Example Program</vt:lpstr>
      <vt:lpstr>Servlet Execution</vt:lpstr>
      <vt:lpstr>Servlet Request Flow </vt:lpstr>
      <vt:lpstr>Servlet Request Flow</vt:lpstr>
      <vt:lpstr>Life Cycle of a Servlet (Servlet Life Cycle) </vt:lpstr>
      <vt:lpstr>PowerPoint 演示文稿</vt:lpstr>
      <vt:lpstr>PowerPoint 演示文稿</vt:lpstr>
      <vt:lpstr>PowerPoint 演示文稿</vt:lpstr>
      <vt:lpstr>PowerPoint 演示文稿</vt:lpstr>
      <vt:lpstr>GET and POST </vt:lpstr>
      <vt:lpstr>FORM GET AND POST ACTIONS</vt:lpstr>
      <vt:lpstr>FORM GET AND POST ACTIONS</vt:lpstr>
      <vt:lpstr>Get vs. Post </vt:lpstr>
      <vt:lpstr>Session Tracking in Servlets </vt:lpstr>
      <vt:lpstr>Session Tracking in Servlets</vt:lpstr>
      <vt:lpstr>Session Tracking Techniques </vt:lpstr>
      <vt:lpstr>1) Hidden Form Field </vt:lpstr>
      <vt:lpstr>PowerPoint 演示文稿</vt:lpstr>
      <vt:lpstr>Example of using Hidden Form Field </vt:lpstr>
      <vt:lpstr>2)URL Rewriting </vt:lpstr>
      <vt:lpstr>2)URL Rewriting</vt:lpstr>
      <vt:lpstr>2)URL Rewriting</vt:lpstr>
      <vt:lpstr>3) HttpSession interface </vt:lpstr>
      <vt:lpstr>3) HttpSession interface</vt:lpstr>
      <vt:lpstr>How to get the HttpSession object ? </vt:lpstr>
      <vt:lpstr>Commonly used methods of HttpSession interface </vt:lpstr>
      <vt:lpstr>4 Cookies in Servlet </vt:lpstr>
      <vt:lpstr>How Cookie works </vt:lpstr>
      <vt:lpstr>PowerPoint 演示文稿</vt:lpstr>
      <vt:lpstr>Types of Cookie </vt:lpstr>
      <vt:lpstr>PowerPoint 演示文稿</vt:lpstr>
      <vt:lpstr>Apache Tomcat websever</vt:lpstr>
      <vt:lpstr>Installing  and Configuring  Apache Tomcat websever</vt:lpstr>
      <vt:lpstr>What is Tomcat? </vt:lpstr>
      <vt:lpstr>What is Tomcat? </vt:lpstr>
      <vt:lpstr>what exactly is Apache tomcat? </vt:lpstr>
      <vt:lpstr>What exactly is Apache tomcat?</vt:lpstr>
      <vt:lpstr>Steps to download and install the Tomcat on  Windows 10 operating  system </vt:lpstr>
      <vt:lpstr>PowerPoint 演示文稿</vt:lpstr>
      <vt:lpstr>Now download any version of Tomcat you want:</vt:lpstr>
      <vt:lpstr>PowerPoint 演示文稿</vt:lpstr>
      <vt:lpstr>Step 3. Once the installation process gets started, click on the "Next" button, as shown below: </vt:lpstr>
      <vt:lpstr>Step 4. Click on the button labeled as "I Agree."</vt:lpstr>
      <vt:lpstr>Step 5. Click on the "Next" button.</vt:lpstr>
      <vt:lpstr>Step 6. Enter the user name and password and click on the " Next" button, as shown below:</vt:lpstr>
      <vt:lpstr>Step 7. Then click on the "Next" button again</vt:lpstr>
      <vt:lpstr>Step 8. Now click on the "Install" button.</vt:lpstr>
      <vt:lpstr>Wait for some time until the Tomcat gets installed.</vt:lpstr>
      <vt:lpstr>PowerPoint 演示文稿</vt:lpstr>
      <vt:lpstr>PowerPoint 演示文稿</vt:lpstr>
      <vt:lpstr>Advantages of Tomcat: </vt:lpstr>
      <vt:lpstr>Advantages of Tomcat: </vt:lpstr>
      <vt:lpstr>Advantages of Tomcat: </vt:lpstr>
      <vt:lpstr>Advantages of Tomcat: </vt:lpstr>
      <vt:lpstr>Advantages of Tomcat:</vt:lpstr>
      <vt:lpstr>Disadvantages of Tomcat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CSC502  Web Computing</dc:title>
  <dc:creator>GlorySelvam</dc:creator>
  <cp:lastModifiedBy>Lenovo</cp:lastModifiedBy>
  <cp:revision>601</cp:revision>
  <dcterms:created xsi:type="dcterms:W3CDTF">2022-07-12T14:04:00Z</dcterms:created>
  <dcterms:modified xsi:type="dcterms:W3CDTF">2025-08-04T08:55:04Z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F4286ED11308435CBCA6CDF7DD72B39E_12</vt:lpwstr>
  </property>
  <property fmtid="{D5CDD505-2E9C-101B-9397-08002B2CF9AE}" pid="3" name="KSOProductBuildVer">
    <vt:lpwstr>1033-12.2.0.21931</vt:lpwstr>
  </property>
</Properties>
</file>