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146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44C9-F236-427C-9F5E-884AA5216BCE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C3460-4C75-4C0B-ABCC-95F32D9EE0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44C9-F236-427C-9F5E-884AA5216BCE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C3460-4C75-4C0B-ABCC-95F32D9EE0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44C9-F236-427C-9F5E-884AA5216BCE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C3460-4C75-4C0B-ABCC-95F32D9EE0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44C9-F236-427C-9F5E-884AA5216BCE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C3460-4C75-4C0B-ABCC-95F32D9EE0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44C9-F236-427C-9F5E-884AA5216BCE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C3460-4C75-4C0B-ABCC-95F32D9EE0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44C9-F236-427C-9F5E-884AA5216BCE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C3460-4C75-4C0B-ABCC-95F32D9EE0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44C9-F236-427C-9F5E-884AA5216BCE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C3460-4C75-4C0B-ABCC-95F32D9EE0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44C9-F236-427C-9F5E-884AA5216BCE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C3460-4C75-4C0B-ABCC-95F32D9EE0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44C9-F236-427C-9F5E-884AA5216BCE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C3460-4C75-4C0B-ABCC-95F32D9EE0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44C9-F236-427C-9F5E-884AA5216BCE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C3460-4C75-4C0B-ABCC-95F32D9EE0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44C9-F236-427C-9F5E-884AA5216BCE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C3460-4C75-4C0B-ABCC-95F32D9EE0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B44C9-F236-427C-9F5E-884AA5216BCE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C3460-4C75-4C0B-ABCC-95F32D9EE0B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71800"/>
            <a:ext cx="8229600" cy="1143000"/>
          </a:xfrm>
        </p:spPr>
        <p:txBody>
          <a:bodyPr/>
          <a:lstStyle/>
          <a:p>
            <a:r>
              <a:rPr lang="en-US" b="1" dirty="0" smtClean="0"/>
              <a:t>Agile Process Models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Agile</a:t>
            </a:r>
            <a:r>
              <a:rPr lang="en-US" dirty="0" smtClean="0"/>
              <a:t> is a </a:t>
            </a:r>
            <a:r>
              <a:rPr lang="en-US" b="1" dirty="0" smtClean="0"/>
              <a:t>software development approach</a:t>
            </a:r>
            <a:r>
              <a:rPr lang="en-US" dirty="0" smtClean="0"/>
              <a:t> that emphasizes:</a:t>
            </a:r>
          </a:p>
          <a:p>
            <a:r>
              <a:rPr lang="en-US" b="1" dirty="0" smtClean="0"/>
              <a:t>Iterative development</a:t>
            </a:r>
            <a:endParaRPr lang="en-US" dirty="0" smtClean="0"/>
          </a:p>
          <a:p>
            <a:r>
              <a:rPr lang="en-US" b="1" dirty="0" smtClean="0"/>
              <a:t>Customer collaboration</a:t>
            </a:r>
            <a:endParaRPr lang="en-US" dirty="0" smtClean="0"/>
          </a:p>
          <a:p>
            <a:r>
              <a:rPr lang="en-US" b="1" dirty="0" smtClean="0"/>
              <a:t>Quick delivery</a:t>
            </a:r>
            <a:endParaRPr lang="en-US" dirty="0" smtClean="0"/>
          </a:p>
          <a:p>
            <a:r>
              <a:rPr lang="en-US" b="1" dirty="0" smtClean="0"/>
              <a:t>Flexibility to change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Agile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Extreme Programming (XP)</a:t>
            </a:r>
          </a:p>
          <a:p>
            <a:r>
              <a:rPr lang="en-US" dirty="0" smtClean="0"/>
              <a:t>Scrum</a:t>
            </a:r>
          </a:p>
          <a:p>
            <a:r>
              <a:rPr lang="en-US" dirty="0" err="1" smtClean="0"/>
              <a:t>Kanban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Comparison: Agile vs. Traditional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524000"/>
          <a:ext cx="822960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80010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Agile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Traditional (Waterfall)</a:t>
                      </a:r>
                    </a:p>
                  </a:txBody>
                  <a:tcPr anchor="ctr"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lang="en-US" dirty="0"/>
                        <a:t>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lang="en-US" dirty="0"/>
                        <a:t>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Iterative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Upfront</a:t>
                      </a:r>
                    </a:p>
                  </a:txBody>
                  <a:tcPr anchor="ctr"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lang="en-US" dirty="0"/>
                        <a:t>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Continuous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After implementation</a:t>
                      </a:r>
                    </a:p>
                  </a:txBody>
                  <a:tcPr anchor="ctr"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lang="en-US"/>
                        <a:t>Customer Involvement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 anchor="ctr"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lang="en-US"/>
                        <a:t>Risk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Early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Late in process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Extreme Programming (XP) Process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Agile Software Development Methodology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/>
              <a:t>What is Extreme Programming (XP)?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XP is an Agile development model focusing on technical excellence and adaptability.</a:t>
            </a:r>
          </a:p>
          <a:p>
            <a:r>
              <a:t>Frequent releases in short cycles</a:t>
            </a:r>
          </a:p>
          <a:p>
            <a:r>
              <a:t>Improves productivity and introduces checkpoints</a:t>
            </a:r>
          </a:p>
          <a:p>
            <a:r>
              <a:t>Customer involvement is continuous</a:t>
            </a:r>
          </a:p>
          <a:p>
            <a:r>
              <a:t>Automated tests and feedback loops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Core XP Process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Planning</a:t>
            </a:r>
            <a:r>
              <a:rPr lang="en-US" dirty="0" smtClean="0"/>
              <a:t> – Define user stories, estimate effort</a:t>
            </a:r>
          </a:p>
          <a:p>
            <a:r>
              <a:rPr lang="en-US" b="1" dirty="0" smtClean="0"/>
              <a:t>Designing</a:t>
            </a:r>
            <a:r>
              <a:rPr lang="en-US" dirty="0" smtClean="0"/>
              <a:t> – Simple and evolutionary designs</a:t>
            </a:r>
          </a:p>
          <a:p>
            <a:r>
              <a:rPr lang="en-US" b="1" dirty="0" smtClean="0"/>
              <a:t>Coding</a:t>
            </a:r>
            <a:r>
              <a:rPr lang="en-US" dirty="0" smtClean="0"/>
              <a:t> – Pair programming, frequent integration</a:t>
            </a:r>
          </a:p>
          <a:p>
            <a:r>
              <a:rPr lang="en-US" b="1" dirty="0" smtClean="0"/>
              <a:t>Testing</a:t>
            </a:r>
            <a:r>
              <a:rPr lang="en-US" dirty="0" smtClean="0"/>
              <a:t> – Automated unit testing, customer tests</a:t>
            </a:r>
          </a:p>
          <a:p>
            <a:r>
              <a:rPr lang="en-US" b="1" dirty="0" smtClean="0"/>
              <a:t>Listening</a:t>
            </a:r>
            <a:r>
              <a:rPr lang="en-US" dirty="0" smtClean="0"/>
              <a:t> – Continuous feedback and adaptation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XP Workflow</a:t>
            </a:r>
            <a:endParaRPr b="1"/>
          </a:p>
        </p:txBody>
      </p:sp>
      <p:pic>
        <p:nvPicPr>
          <p:cNvPr id="3" name="Picture 2" descr="A_flowchart_diagram_in_the_image_visually_repres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9" y="1585587"/>
            <a:ext cx="522514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Scrum Process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Agile Framework for Software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Scrum?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Scrum is an Agile framework that uses short iterations (Sprints) for product development.</a:t>
            </a:r>
          </a:p>
          <a:p>
            <a:r>
              <a:t>Emphasizes collaboration, accountability, and iterative progress</a:t>
            </a:r>
          </a:p>
          <a:p>
            <a:r>
              <a:t>Each Sprint typically lasts 2-4 weeks</a:t>
            </a:r>
          </a:p>
          <a:p>
            <a:r>
              <a:t>Daily stand-ups for communication</a:t>
            </a:r>
          </a:p>
          <a:p>
            <a:r>
              <a:t>Continuous improvement through retrospectives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Scrum Workflow</a:t>
            </a:r>
            <a:endParaRPr lang="en-US" dirty="0"/>
          </a:p>
        </p:txBody>
      </p:sp>
      <p:pic>
        <p:nvPicPr>
          <p:cNvPr id="4" name="Content Placeholder 3" descr="scrum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000" y="1600200"/>
            <a:ext cx="5562600" cy="4800600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t>Detailed Scrum Process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4525963"/>
          </a:xfrm>
        </p:spPr>
        <p:txBody>
          <a:bodyPr>
            <a:noAutofit/>
          </a:bodyPr>
          <a:lstStyle/>
          <a:p>
            <a:r>
              <a:rPr sz="2400"/>
              <a:t>Scrum follows a structured workflow divided into time-boxed iterations called Sprints.</a:t>
            </a:r>
          </a:p>
          <a:p>
            <a:r>
              <a:rPr sz="2400"/>
              <a:t>1. Product Backlog: Product Owner maintains a prioritized list of features</a:t>
            </a:r>
          </a:p>
          <a:p>
            <a:r>
              <a:rPr sz="2400"/>
              <a:t>2. Sprint Planning: Team selects backlog items to complete during the Sprint</a:t>
            </a:r>
          </a:p>
          <a:p>
            <a:r>
              <a:rPr sz="2400"/>
              <a:t>3. Sprint: Typically 2–4 weeks, where the team develops and tests features</a:t>
            </a:r>
          </a:p>
          <a:p>
            <a:r>
              <a:rPr sz="2400"/>
              <a:t>4. Daily Scrum: 15-minute stand-up meeting to synchronize team efforts</a:t>
            </a:r>
          </a:p>
          <a:p>
            <a:r>
              <a:rPr sz="2400"/>
              <a:t>5. Sprint Review: Stakeholders review completed work and provide feedback</a:t>
            </a:r>
          </a:p>
          <a:p>
            <a:r>
              <a:rPr sz="2400"/>
              <a:t>6. Sprint Retrospective: Team reflects on the Sprint and plans improvements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 fontScale="92500" lnSpcReduction="20000"/>
          </a:bodyPr>
          <a:lstStyle/>
          <a:p>
            <a:endParaRPr/>
          </a:p>
          <a:p>
            <a:r>
              <a:t>Increased transparency and collaboration</a:t>
            </a:r>
          </a:p>
          <a:p>
            <a:r>
              <a:t>Early and continuous delivery of valuable software</a:t>
            </a:r>
          </a:p>
          <a:p>
            <a:r>
              <a:t>Rapid feedback helps in quick changes</a:t>
            </a:r>
          </a:p>
          <a:p>
            <a:r>
              <a:t>Improves team communication and accountability</a:t>
            </a:r>
          </a:p>
          <a:p>
            <a:r>
              <a:t>Customer involvement ensures better alignment with needs</a:t>
            </a:r>
          </a:p>
          <a:p>
            <a:r>
              <a:t>Focus on continuous improvement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Requires experienced and self-organized team</a:t>
            </a:r>
          </a:p>
          <a:p>
            <a:r>
              <a:t>Scope creep due to changing requirements</a:t>
            </a:r>
          </a:p>
          <a:p>
            <a:r>
              <a:t>Difficult to scale in large or distributed teams</a:t>
            </a:r>
          </a:p>
          <a:p>
            <a:r>
              <a:t>Needs full commitment from all stakeholders</a:t>
            </a:r>
          </a:p>
          <a:p>
            <a:r>
              <a:t>Scrum roles may be misunderstood or misused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Kanban Software Process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Visual Agile Method for Managing Work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Kanban?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Kanban is an Agile method focused on visualizing work and optimizing flow.</a:t>
            </a:r>
          </a:p>
          <a:p>
            <a:r>
              <a:t>Developed from Lean Manufacturing principles</a:t>
            </a:r>
          </a:p>
          <a:p>
            <a:r>
              <a:t>Uses Kanban boards to manage work items</a:t>
            </a:r>
          </a:p>
          <a:p>
            <a:r>
              <a:t>Emphasizes continuous delivery without overburdening the team</a:t>
            </a:r>
          </a:p>
          <a:p>
            <a:r>
              <a:t>Work in Progress (WIP) limits help identify bottlenecks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Principles of Kanban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Visualize the workflow</a:t>
            </a:r>
          </a:p>
          <a:p>
            <a:r>
              <a:t>Limit Work in Progress (WIP)</a:t>
            </a:r>
          </a:p>
          <a:p>
            <a:r>
              <a:t>Manage flow</a:t>
            </a:r>
          </a:p>
          <a:p>
            <a:r>
              <a:t>Make process policies explicit</a:t>
            </a:r>
          </a:p>
          <a:p>
            <a:r>
              <a:t>Implement feedback loops</a:t>
            </a:r>
          </a:p>
          <a:p>
            <a:r>
              <a:t>Improve collaboratively and evolve experimentally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 descr="kanb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65110"/>
            <a:ext cx="8229599" cy="544907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Kanban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Increased visibility of work</a:t>
            </a:r>
          </a:p>
          <a:p>
            <a:r>
              <a:t>Improved flow and reduced cycle time</a:t>
            </a:r>
          </a:p>
          <a:p>
            <a:r>
              <a:t>Flexibility to handle changing priorities</a:t>
            </a:r>
          </a:p>
          <a:p>
            <a:r>
              <a:t>Better team communication</a:t>
            </a:r>
          </a:p>
          <a:p>
            <a:r>
              <a:t>Helps identify and remove bottlenecks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of Kanban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Requires discipline to manage WIP limits</a:t>
            </a:r>
          </a:p>
          <a:p>
            <a:r>
              <a:t>May lack structure for teams needing strict roles</a:t>
            </a:r>
          </a:p>
          <a:p>
            <a:r>
              <a:t>Can become complex without regular monitoring</a:t>
            </a:r>
          </a:p>
          <a:p>
            <a:r>
              <a:t>Less suited for projects with strict deadlines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516</Words>
  <Application>Microsoft Office PowerPoint</Application>
  <PresentationFormat>On-screen Show (4:3)</PresentationFormat>
  <Paragraphs>106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Agile Process Models</vt:lpstr>
      <vt:lpstr>Overview</vt:lpstr>
      <vt:lpstr>Key Agile Models</vt:lpstr>
      <vt:lpstr>Comparison: Agile vs. Traditional</vt:lpstr>
      <vt:lpstr>Extreme Programming (XP) Process Model</vt:lpstr>
      <vt:lpstr>What is Extreme Programming (XP)?</vt:lpstr>
      <vt:lpstr>Core XP Process Phases</vt:lpstr>
      <vt:lpstr>XP Workflow</vt:lpstr>
      <vt:lpstr>Scrum Process Model</vt:lpstr>
      <vt:lpstr>What is Scrum?</vt:lpstr>
      <vt:lpstr>Scrum Workflow</vt:lpstr>
      <vt:lpstr>Detailed Scrum Process Flow</vt:lpstr>
      <vt:lpstr>Advantages of Scrum</vt:lpstr>
      <vt:lpstr>Challenges in Scrum</vt:lpstr>
      <vt:lpstr>Kanban Software Process</vt:lpstr>
      <vt:lpstr>What is Kanban?</vt:lpstr>
      <vt:lpstr>Key Principles of Kanban</vt:lpstr>
      <vt:lpstr>Slide 18</vt:lpstr>
      <vt:lpstr>Advantages of Kanban</vt:lpstr>
      <vt:lpstr>Challenges of Kanban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Process Models</dc:title>
  <dc:creator>akanksha.patil@sigce.edu.in</dc:creator>
  <cp:lastModifiedBy>akanksha.patil@sigce.edu.in</cp:lastModifiedBy>
  <cp:revision>14</cp:revision>
  <dcterms:created xsi:type="dcterms:W3CDTF">2025-07-29T05:08:10Z</dcterms:created>
  <dcterms:modified xsi:type="dcterms:W3CDTF">2025-07-29T09:31:39Z</dcterms:modified>
</cp:coreProperties>
</file>